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1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8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8" r:id="rId15"/>
    <p:sldId id="268" r:id="rId16"/>
    <p:sldId id="269" r:id="rId17"/>
    <p:sldId id="270" r:id="rId18"/>
    <p:sldId id="272" r:id="rId19"/>
    <p:sldId id="273" r:id="rId20"/>
    <p:sldId id="274" r:id="rId21"/>
    <p:sldId id="281" r:id="rId22"/>
    <p:sldId id="276" r:id="rId23"/>
    <p:sldId id="27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i.chenn(陈辉)" initials="h" lastIdx="4" clrIdx="0">
    <p:extLst>
      <p:ext uri="{19B8F6BF-5375-455C-9EA6-DF929625EA0E}">
        <p15:presenceInfo xmlns:p15="http://schemas.microsoft.com/office/powerpoint/2012/main" userId="S-1-5-21-2603591272-1053302690-2256580976-1648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37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8T18:19:40.426" idx="2">
    <p:pos x="10" y="10"/>
    <p:text>面对这一痛点，当时也没有更好的方案；转机出现在年后3月份的一次部门分享会议中，参加集团双周会的同事给我们分享了最新的AI相关知识，里面提到了A2U。于是我就开始去了解A2UI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8T18:24:52.715" idx="3">
    <p:pos x="10" y="10"/>
    <p:text>在了解它概念的过程中，我手上正好有个运维小搭档的项目，里面的业务要求复杂，需要根据不同的业务场景展示不同的小卡片，那我就在想，这个场景不就是应该用到A2UI所拥有的能力吗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8T18:27:43.538" idx="4">
    <p:pos x="10" y="10"/>
    <p:text>这是当时我们运维小搭档的解决的问题与它的的技术选型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16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06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86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5512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驱动下的前端开发实践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27432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从业务痛点到 AI 驱动的 UI 基础设施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添可 AIT 中心 · 国内营销智能部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陈辉    2026.06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457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分享内容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743200" cy="22860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1097280"/>
            <a:ext cx="3657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55448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背景与痛点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463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 · 传统方案的技术瓶颈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2084832"/>
            <a:ext cx="3657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8483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554480" y="2084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的引入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2450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从痛点到方案 · A2UI 协议解读 · 核心价值定位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" y="3072384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07238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554480" y="30723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项目落地应用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54480" y="343814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· 运维小搭档桌面端 · 使用进阶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" y="4059936"/>
            <a:ext cx="36576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05993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554480" y="40599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实现原理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554480" y="44256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 · 渲染机制 · 能力封装与开源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背景与痛点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 · 传统方案的技术瓶颈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背景与痛点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63040"/>
            <a:ext cx="36576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并行业务线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多条业务线同时推进，开发资源严重紧张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82696" y="1463040"/>
            <a:ext cx="36576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508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2900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报表页面需求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运营侧需要快速上线各种报表和活动页面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463040"/>
            <a:ext cx="36576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508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1792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交付压力大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需求紧急，传统开发模式无法快速响应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3822192"/>
            <a:ext cx="36576" cy="35661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794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核心矛盾：活多、人少、需求急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背景与痛点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变革</a:t>
            </a:r>
            <a:r>
              <a:rPr lang="en-US" sz="160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方案的技术瓶颈</a:t>
            </a:r>
            <a:endParaRPr lang="en-US" sz="1600" dirty="0"/>
          </a:p>
        </p:txBody>
      </p:sp>
      <p:grpSp>
        <p:nvGrpSpPr>
          <p:cNvPr id="32" name="组合 31"/>
          <p:cNvGrpSpPr/>
          <p:nvPr/>
        </p:nvGrpSpPr>
        <p:grpSpPr>
          <a:xfrm>
            <a:off x="418338" y="1431036"/>
            <a:ext cx="4249527" cy="502920"/>
            <a:chOff x="418338" y="1431036"/>
            <a:chExt cx="6949440" cy="502920"/>
          </a:xfrm>
        </p:grpSpPr>
        <p:sp>
          <p:nvSpPr>
            <p:cNvPr id="7" name="Shape 5"/>
            <p:cNvSpPr/>
            <p:nvPr/>
          </p:nvSpPr>
          <p:spPr>
            <a:xfrm>
              <a:off x="418338" y="1431036"/>
              <a:ext cx="1828800" cy="502920"/>
            </a:xfrm>
            <a:prstGeom prst="roundRect">
              <a:avLst>
                <a:gd name="adj" fmla="val 14545"/>
              </a:avLst>
            </a:prstGeom>
            <a:solidFill>
              <a:srgbClr val="1E3A5F"/>
            </a:solidFill>
            <a:ln w="12700">
              <a:solidFill>
                <a:srgbClr val="33333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8" name="Text 6"/>
            <p:cNvSpPr/>
            <p:nvPr/>
          </p:nvSpPr>
          <p:spPr>
            <a:xfrm>
              <a:off x="418338" y="1431036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珊瑚工作流</a:t>
              </a:r>
              <a:endParaRPr lang="en-US" sz="13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2292858" y="1677924"/>
              <a:ext cx="594360" cy="0"/>
            </a:xfrm>
            <a:prstGeom prst="line">
              <a:avLst/>
            </a:prstGeom>
            <a:noFill/>
            <a:ln w="25400">
              <a:solidFill>
                <a:srgbClr val="02C39A"/>
              </a:solidFill>
              <a:prstDash val="solid"/>
              <a:tailEnd type="triangle"/>
            </a:ln>
          </p:spPr>
        </p:sp>
        <p:sp>
          <p:nvSpPr>
            <p:cNvPr id="10" name="Shape 8"/>
            <p:cNvSpPr/>
            <p:nvPr/>
          </p:nvSpPr>
          <p:spPr>
            <a:xfrm>
              <a:off x="2978658" y="1431036"/>
              <a:ext cx="1828800" cy="502920"/>
            </a:xfrm>
            <a:prstGeom prst="roundRect">
              <a:avLst>
                <a:gd name="adj" fmla="val 14545"/>
              </a:avLst>
            </a:prstGeom>
            <a:solidFill>
              <a:srgbClr val="1E3A5F"/>
            </a:solidFill>
            <a:ln w="12700">
              <a:solidFill>
                <a:srgbClr val="33333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2978658" y="1431036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HTML 模板</a:t>
              </a:r>
              <a:endParaRPr lang="en-US" sz="13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853178" y="1677924"/>
              <a:ext cx="594360" cy="0"/>
            </a:xfrm>
            <a:prstGeom prst="line">
              <a:avLst/>
            </a:prstGeom>
            <a:noFill/>
            <a:ln w="25400">
              <a:solidFill>
                <a:srgbClr val="02C39A"/>
              </a:solidFill>
              <a:prstDash val="solid"/>
              <a:tailEnd type="triangle"/>
            </a:ln>
          </p:spPr>
        </p:sp>
        <p:sp>
          <p:nvSpPr>
            <p:cNvPr id="13" name="Shape 11"/>
            <p:cNvSpPr/>
            <p:nvPr/>
          </p:nvSpPr>
          <p:spPr>
            <a:xfrm>
              <a:off x="5538978" y="1431036"/>
              <a:ext cx="1828800" cy="502920"/>
            </a:xfrm>
            <a:prstGeom prst="roundRect">
              <a:avLst>
                <a:gd name="adj" fmla="val 14545"/>
              </a:avLst>
            </a:prstGeom>
            <a:solidFill>
              <a:srgbClr val="1E3A5F"/>
            </a:solidFill>
            <a:ln w="12700">
              <a:solidFill>
                <a:srgbClr val="33333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4" name="Text 12"/>
            <p:cNvSpPr/>
            <p:nvPr/>
          </p:nvSpPr>
          <p:spPr>
            <a:xfrm>
              <a:off x="5538978" y="1431036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页面渲染</a:t>
              </a:r>
              <a:endParaRPr lang="en-US" sz="1300" dirty="0"/>
            </a:p>
          </p:txBody>
        </p:sp>
      </p:grpSp>
      <p:sp>
        <p:nvSpPr>
          <p:cNvPr id="30" name="Text 28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27" y="2841922"/>
            <a:ext cx="6294881" cy="1981538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382" y="487342"/>
            <a:ext cx="2120448" cy="43361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背景与痛点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600" b="1">
                <a:solidFill>
                  <a:srgbClr val="FFFFFF"/>
                </a:solidFill>
              </a:rPr>
              <a:t>传统 </a:t>
            </a:r>
            <a:r>
              <a:rPr lang="en-US" altLang="zh-CN" sz="1600" b="1">
                <a:solidFill>
                  <a:srgbClr val="FFFFFF"/>
                </a:solidFill>
              </a:rPr>
              <a:t>HTML </a:t>
            </a:r>
            <a:r>
              <a:rPr lang="zh-CN" altLang="en-US" sz="1600" b="1">
                <a:solidFill>
                  <a:srgbClr val="FFFFFF"/>
                </a:solidFill>
              </a:rPr>
              <a:t>模板方案的局限</a:t>
            </a:r>
          </a:p>
        </p:txBody>
      </p:sp>
      <p:sp>
        <p:nvSpPr>
          <p:cNvPr id="15" name="Shape 13"/>
          <p:cNvSpPr/>
          <p:nvPr/>
        </p:nvSpPr>
        <p:spPr>
          <a:xfrm>
            <a:off x="390832" y="1571588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7408" y="1663028"/>
            <a:ext cx="36576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432" y="17087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交互被动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9432" y="2074508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渲染对多轮复杂交互支撑弱，状态微调需要重新拉取或整体刷新页面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79752" y="1571588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6328" y="1663028"/>
            <a:ext cx="36576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8352" y="17087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适配成本高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08352" y="2074508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iOS、Android、Web 三端对富文本和 HTML 标签兼容性存在差异，调试繁琐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68672" y="1571588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05248" y="1663028"/>
            <a:ext cx="36576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7272" y="17087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安全隐患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97272" y="2074508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直接在端上渲染注入的外部 HTML，存在 XSS 注入等安全风险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0832" y="3721165"/>
            <a:ext cx="8138160" cy="594360"/>
          </a:xfrm>
          <a:prstGeom prst="roundRect">
            <a:avLst>
              <a:gd name="adj" fmla="val 12308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7407" y="3794317"/>
            <a:ext cx="45719" cy="44805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431" y="3766885"/>
            <a:ext cx="758328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HTML 模板方案已到天花板，需要更灵活、更安全、更智能的 UI 渲染方式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29208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的引入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从痛点到方案 · A2UI 协议解读 · 核心价值定位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A2UI 的引入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 A2UI？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= AI to UI — Google 推出的开放协议，AI Agent 到用户界面的标准化桥梁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783080"/>
            <a:ext cx="36576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对话即界面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用户通过自然语言与 AI 对话，AI 实时生成可交互的 UI 界面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0016" y="1783080"/>
            <a:ext cx="36576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界面即对话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057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界面上的交互操作直接反馈到 AI 对话流中，形成闭环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发展历程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046720" cy="18288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331012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v0.8 首次公开发布，Apache 2.0 开源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31920" y="331012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v0.9 新增 React/Flutter/Angular 渲染器 + Python Agent SDK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331012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生产落地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Opal 等生产系统已落地应用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A2UI 的引入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的核心价值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大模型赋予了机器理解与生成的能力，但缺乏与用户交互的界面载体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764792"/>
            <a:ext cx="36576" cy="35661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正是连接大模型与用户的桥梁 — 让 AI 的输出不再局限于文本，而是直接成为可交互的界面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25146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80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规范化输出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大模型按统一 Schema 生成 UI，确保一致性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24231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82696" y="25146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7472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即时渲染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7472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到界面毫秒级转化，零延迟响应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4231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71616" y="25146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26364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业务适配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6364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组件可扩展，灵活适配不同业务场景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项目落地应用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· 运维小搭档桌面端 · 使用进阶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运维小搭档桌面端 — 新挑战与新选型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运维痛点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78308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099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重复性事务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9385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大量工单、权限申请等重复操作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" y="237744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042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经验依赖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532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问题排查依赖个人经验，知识难沉淀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" y="297180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8986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信息孤岛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1272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各系统割裂，缺乏统一入口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" y="356616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4930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难触达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7216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能力无法以交互式界面触达用户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技术选型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69164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91456" y="178308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7099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前端框架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19385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28600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91456" y="237744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3042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组件库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2532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Plus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88036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91456" y="297180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8986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桌面端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31272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41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47472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91456" y="356616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4930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动态渲染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37216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Vue Engine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16052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3776" y="4233672"/>
            <a:ext cx="36576" cy="310896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18795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关键选型：A2UI Vue Engine — JSON Schema 驱动 + 零代码扩展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使用进阶 — 从简单到复杂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输入一段话自动生成表单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用户说"我要申请网络权限"，AI 就能直接生成对应的表单界面</a:t>
            </a:r>
            <a:endParaRPr lang="en-US" sz="12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320040" y="2718740"/>
            <a:ext cx="4648878" cy="458408"/>
            <a:chOff x="560439" y="2571750"/>
            <a:chExt cx="6949440" cy="640080"/>
          </a:xfrm>
        </p:grpSpPr>
        <p:sp>
          <p:nvSpPr>
            <p:cNvPr id="11" name="Shape 9"/>
            <p:cNvSpPr/>
            <p:nvPr/>
          </p:nvSpPr>
          <p:spPr>
            <a:xfrm>
              <a:off x="560439" y="2571750"/>
              <a:ext cx="1828800" cy="640080"/>
            </a:xfrm>
            <a:prstGeom prst="roundRect">
              <a:avLst>
                <a:gd name="adj" fmla="val 11429"/>
              </a:avLst>
            </a:prstGeom>
            <a:solidFill>
              <a:srgbClr val="1E3A5F"/>
            </a:solidFill>
            <a:ln w="12700">
              <a:solidFill>
                <a:srgbClr val="33333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2" name="Text 10"/>
            <p:cNvSpPr/>
            <p:nvPr/>
          </p:nvSpPr>
          <p:spPr>
            <a:xfrm>
              <a:off x="560439" y="2571750"/>
              <a:ext cx="18288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用户输入</a:t>
              </a:r>
              <a:endParaRPr lang="en-US" sz="1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434959" y="2891790"/>
              <a:ext cx="594360" cy="0"/>
            </a:xfrm>
            <a:prstGeom prst="line">
              <a:avLst/>
            </a:prstGeom>
            <a:noFill/>
            <a:ln w="25400">
              <a:solidFill>
                <a:srgbClr val="06B6D4"/>
              </a:solidFill>
              <a:prstDash val="solid"/>
              <a:tailEnd type="triangle"/>
            </a:ln>
          </p:spPr>
        </p:sp>
        <p:sp>
          <p:nvSpPr>
            <p:cNvPr id="14" name="Shape 12"/>
            <p:cNvSpPr/>
            <p:nvPr/>
          </p:nvSpPr>
          <p:spPr>
            <a:xfrm>
              <a:off x="3120759" y="2571750"/>
              <a:ext cx="1828800" cy="640080"/>
            </a:xfrm>
            <a:prstGeom prst="roundRect">
              <a:avLst>
                <a:gd name="adj" fmla="val 11429"/>
              </a:avLst>
            </a:prstGeom>
            <a:solidFill>
              <a:srgbClr val="1E3A5F"/>
            </a:solidFill>
            <a:ln w="12700">
              <a:solidFill>
                <a:srgbClr val="33333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3120759" y="2571750"/>
              <a:ext cx="18288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理解</a:t>
              </a:r>
              <a:endParaRPr lang="en-US" sz="14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995279" y="2891790"/>
              <a:ext cx="594360" cy="0"/>
            </a:xfrm>
            <a:prstGeom prst="line">
              <a:avLst/>
            </a:prstGeom>
            <a:noFill/>
            <a:ln w="25400">
              <a:solidFill>
                <a:srgbClr val="06B6D4"/>
              </a:solidFill>
              <a:prstDash val="solid"/>
              <a:tailEnd type="triangle"/>
            </a:ln>
          </p:spPr>
        </p:sp>
        <p:sp>
          <p:nvSpPr>
            <p:cNvPr id="17" name="Shape 15"/>
            <p:cNvSpPr/>
            <p:nvPr/>
          </p:nvSpPr>
          <p:spPr>
            <a:xfrm>
              <a:off x="5681079" y="2571750"/>
              <a:ext cx="1828800" cy="640080"/>
            </a:xfrm>
            <a:prstGeom prst="roundRect">
              <a:avLst>
                <a:gd name="adj" fmla="val 11429"/>
              </a:avLst>
            </a:prstGeom>
            <a:solidFill>
              <a:srgbClr val="1E3A5F"/>
            </a:solidFill>
            <a:ln w="12700">
              <a:solidFill>
                <a:srgbClr val="33333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8" name="Text 16"/>
            <p:cNvSpPr/>
            <p:nvPr/>
          </p:nvSpPr>
          <p:spPr>
            <a:xfrm>
              <a:off x="5681079" y="2571750"/>
              <a:ext cx="18288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生成表单</a:t>
              </a:r>
              <a:endParaRPr lang="en-US" sz="14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pic>
        <p:nvPicPr>
          <p:cNvPr id="21" name="Video_20260526133529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65846" y="1063359"/>
            <a:ext cx="3893799" cy="3509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3930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使用进阶 — 从简单到复杂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提示词工程驱动复杂业务流程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以网络权限申请为例：将所有参数规则写进提示词，大模型按规则收集信息，通过 A2UI 生成完整申请表单，用户填完直接提交到 OA 系统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10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接口卡片入参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 Excel 文件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55648" y="2971800"/>
            <a:ext cx="1920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96596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0253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002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002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5740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珊瑚流生成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5740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格式入参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01568" y="2971800"/>
            <a:ext cx="1920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1188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4845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5594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5594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0332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提示词构建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0332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MD入参 + 接口URL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47488" y="2971800"/>
            <a:ext cx="1920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25780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9437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0186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186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4924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珊瑚生成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4924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93408" y="2971800"/>
            <a:ext cx="1920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90372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4029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4778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4778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9516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渲染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9516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界面呈现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pic>
        <p:nvPicPr>
          <p:cNvPr id="46" name="Image 2" descr="D:\work\program\tineco\desk\opsmind\ppt_images\image1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1659" y="1479594"/>
            <a:ext cx="3840480" cy="3121572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pic>
      <p:pic>
        <p:nvPicPr>
          <p:cNvPr id="47" name="Image 1" descr="D:\work\program\tineco\desk\opsmind\ppt_images\image11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20511" y="959890"/>
            <a:ext cx="3996772" cy="393215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48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运维小搭档桌面端 </a:t>
            </a: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60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</a:t>
            </a:r>
            <a:r>
              <a:rPr lang="zh-CN" altLang="en-US" sz="160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39512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实现原理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 · 渲染机制 · 能力封装与开源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a2ui-vue-engine 核心架构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17320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驱动渲染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声明式描述 UI，引擎解析渲染为 Vue 组件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直接生成 JSON 即可产出界面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1417320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417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9204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双格式 + 流式协议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扁平格式（AI 友好）与树形格式（渲染友好）自动转换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流式增量渲染，支持逐节点输出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" y="3200400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声明式数据绑定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/ literal / expression 三种绑定类型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206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transform 变换链，表单数据自动提取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0016" y="3200400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9204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组件映射 + 可扩展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9204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个内置组件 + 组件映射表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4206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registerComponent 动态注册自定义组件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技术架构全景图</a:t>
            </a:r>
            <a:endParaRPr lang="en-US" sz="1600" dirty="0"/>
          </a:p>
        </p:txBody>
      </p:sp>
      <p:grpSp>
        <p:nvGrpSpPr>
          <p:cNvPr id="38" name="组合 37"/>
          <p:cNvGrpSpPr/>
          <p:nvPr/>
        </p:nvGrpSpPr>
        <p:grpSpPr>
          <a:xfrm>
            <a:off x="731520" y="1371600"/>
            <a:ext cx="7498080" cy="3520440"/>
            <a:chOff x="731520" y="1371600"/>
            <a:chExt cx="8138160" cy="4389120"/>
          </a:xfrm>
        </p:grpSpPr>
        <p:sp>
          <p:nvSpPr>
            <p:cNvPr id="7" name="Shape 5"/>
            <p:cNvSpPr/>
            <p:nvPr/>
          </p:nvSpPr>
          <p:spPr>
            <a:xfrm>
              <a:off x="731520" y="1371600"/>
              <a:ext cx="7498080" cy="594360"/>
            </a:xfrm>
            <a:prstGeom prst="roundRect">
              <a:avLst>
                <a:gd name="adj" fmla="val 15385"/>
              </a:avLst>
            </a:prstGeom>
            <a:solidFill>
              <a:srgbClr val="1E3A5F"/>
            </a:solidFill>
            <a:ln w="12700">
              <a:solidFill>
                <a:srgbClr val="33333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768096" y="1463040"/>
              <a:ext cx="36576" cy="411480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960120" y="141732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/ 珊瑚工作流</a:t>
              </a:r>
              <a:endParaRPr lang="en-US" sz="13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960120" y="1664208"/>
              <a:ext cx="45720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Agent 输出 JSON Schema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480560" y="1965960"/>
              <a:ext cx="0" cy="137160"/>
            </a:xfrm>
            <a:prstGeom prst="line">
              <a:avLst/>
            </a:prstGeom>
            <a:noFill/>
            <a:ln w="25400">
              <a:solidFill>
                <a:srgbClr val="02C39A"/>
              </a:solidFill>
              <a:prstDash val="solid"/>
              <a:tailEnd type="triangle"/>
            </a:ln>
          </p:spPr>
        </p:sp>
        <p:sp>
          <p:nvSpPr>
            <p:cNvPr id="12" name="Shape 10"/>
            <p:cNvSpPr/>
            <p:nvPr/>
          </p:nvSpPr>
          <p:spPr>
            <a:xfrm>
              <a:off x="731520" y="2240280"/>
              <a:ext cx="7498080" cy="594360"/>
            </a:xfrm>
            <a:prstGeom prst="roundRect">
              <a:avLst>
                <a:gd name="adj" fmla="val 15385"/>
              </a:avLst>
            </a:prstGeom>
            <a:solidFill>
              <a:srgbClr val="1E3A5F"/>
            </a:solidFill>
            <a:ln w="12700">
              <a:solidFill>
                <a:srgbClr val="33333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768096" y="2331720"/>
              <a:ext cx="36576" cy="411480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960120" y="228600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A2UI 协议层</a:t>
              </a:r>
              <a:endParaRPr lang="en-US" sz="13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960120" y="2532888"/>
              <a:ext cx="54864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JSON Schema (Flat/Tree) + JSONL Stream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480560" y="2834640"/>
              <a:ext cx="0" cy="137160"/>
            </a:xfrm>
            <a:prstGeom prst="line">
              <a:avLst/>
            </a:prstGeom>
            <a:noFill/>
            <a:ln w="25400">
              <a:solidFill>
                <a:srgbClr val="02C39A"/>
              </a:solidFill>
              <a:prstDash val="solid"/>
              <a:tailEnd type="triangle"/>
            </a:ln>
          </p:spPr>
        </p:sp>
        <p:sp>
          <p:nvSpPr>
            <p:cNvPr id="17" name="Shape 15"/>
            <p:cNvSpPr/>
            <p:nvPr/>
          </p:nvSpPr>
          <p:spPr>
            <a:xfrm>
              <a:off x="731520" y="3108960"/>
              <a:ext cx="7498080" cy="914400"/>
            </a:xfrm>
            <a:prstGeom prst="roundRect">
              <a:avLst>
                <a:gd name="adj" fmla="val 10000"/>
              </a:avLst>
            </a:prstGeom>
            <a:solidFill>
              <a:srgbClr val="1E3A5F"/>
            </a:solidFill>
            <a:ln w="12700">
              <a:solidFill>
                <a:srgbClr val="33333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768096" y="3200400"/>
              <a:ext cx="36576" cy="731520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960120" y="31546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a2ui-vue-engine 核心引擎</a:t>
              </a:r>
              <a:endParaRPr lang="en-US" sz="13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960120" y="3474720"/>
              <a:ext cx="2148840" cy="411480"/>
            </a:xfrm>
            <a:prstGeom prst="roundRect">
              <a:avLst>
                <a:gd name="adj" fmla="val 13333"/>
              </a:avLst>
            </a:prstGeom>
            <a:solidFill>
              <a:srgbClr val="0D2847"/>
            </a:solidFill>
            <a:ln w="6350">
              <a:solidFill>
                <a:srgbClr val="F59E0B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960120" y="3474720"/>
              <a:ext cx="21488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Schema Parser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解析器</a:t>
              </a:r>
              <a:endParaRPr lang="en-US" sz="9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383280" y="3474720"/>
              <a:ext cx="2148840" cy="411480"/>
            </a:xfrm>
            <a:prstGeom prst="roundRect">
              <a:avLst>
                <a:gd name="adj" fmla="val 13333"/>
              </a:avLst>
            </a:prstGeom>
            <a:solidFill>
              <a:srgbClr val="0D2847"/>
            </a:solidFill>
            <a:ln w="6350">
              <a:solidFill>
                <a:srgbClr val="F59E0B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3383280" y="3474720"/>
              <a:ext cx="21488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Component Mapper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组件映射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806440" y="3474720"/>
              <a:ext cx="2148840" cy="411480"/>
            </a:xfrm>
            <a:prstGeom prst="roundRect">
              <a:avLst>
                <a:gd name="adj" fmla="val 13333"/>
              </a:avLst>
            </a:prstGeom>
            <a:solidFill>
              <a:srgbClr val="0D2847"/>
            </a:solidFill>
            <a:ln w="6350">
              <a:solidFill>
                <a:srgbClr val="F59E0B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5806440" y="3474720"/>
              <a:ext cx="21488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Binder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数据绑定</a:t>
              </a:r>
              <a:endParaRPr lang="en-US" sz="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480560" y="4023360"/>
              <a:ext cx="0" cy="137160"/>
            </a:xfrm>
            <a:prstGeom prst="line">
              <a:avLst/>
            </a:prstGeom>
            <a:noFill/>
            <a:ln w="25400">
              <a:solidFill>
                <a:srgbClr val="02C39A"/>
              </a:solidFill>
              <a:prstDash val="solid"/>
              <a:tailEnd type="triangle"/>
            </a:ln>
          </p:spPr>
        </p:sp>
        <p:sp>
          <p:nvSpPr>
            <p:cNvPr id="27" name="Shape 25"/>
            <p:cNvSpPr/>
            <p:nvPr/>
          </p:nvSpPr>
          <p:spPr>
            <a:xfrm>
              <a:off x="731520" y="4297680"/>
              <a:ext cx="7498080" cy="594360"/>
            </a:xfrm>
            <a:prstGeom prst="roundRect">
              <a:avLst>
                <a:gd name="adj" fmla="val 15385"/>
              </a:avLst>
            </a:prstGeom>
            <a:solidFill>
              <a:srgbClr val="1E3A5F"/>
            </a:solidFill>
            <a:ln w="12700">
              <a:solidFill>
                <a:srgbClr val="33333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28" name="Shape 26"/>
            <p:cNvSpPr/>
            <p:nvPr/>
          </p:nvSpPr>
          <p:spPr>
            <a:xfrm>
              <a:off x="768096" y="4389120"/>
              <a:ext cx="36576" cy="411480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960120" y="434340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Vue 组件层</a:t>
              </a:r>
              <a:endParaRPr lang="en-US" sz="13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960120" y="4590288"/>
              <a:ext cx="54864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Built-in Components + Custom Components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4480560" y="4892040"/>
              <a:ext cx="0" cy="137160"/>
            </a:xfrm>
            <a:prstGeom prst="line">
              <a:avLst/>
            </a:prstGeom>
            <a:noFill/>
            <a:ln w="25400">
              <a:solidFill>
                <a:srgbClr val="02C39A"/>
              </a:solidFill>
              <a:prstDash val="solid"/>
              <a:tailEnd type="triangle"/>
            </a:ln>
          </p:spPr>
        </p:sp>
        <p:sp>
          <p:nvSpPr>
            <p:cNvPr id="32" name="Shape 30"/>
            <p:cNvSpPr/>
            <p:nvPr/>
          </p:nvSpPr>
          <p:spPr>
            <a:xfrm>
              <a:off x="731520" y="5166360"/>
              <a:ext cx="7498080" cy="594360"/>
            </a:xfrm>
            <a:prstGeom prst="roundRect">
              <a:avLst>
                <a:gd name="adj" fmla="val 15385"/>
              </a:avLst>
            </a:prstGeom>
            <a:solidFill>
              <a:srgbClr val="1E3A5F"/>
            </a:solidFill>
            <a:ln w="12700">
              <a:solidFill>
                <a:srgbClr val="33333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3" name="Shape 31"/>
            <p:cNvSpPr/>
            <p:nvPr/>
          </p:nvSpPr>
          <p:spPr>
            <a:xfrm>
              <a:off x="768096" y="5257800"/>
              <a:ext cx="36576" cy="411480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960120" y="521208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渲染输出</a:t>
              </a:r>
              <a:endParaRPr lang="en-US" sz="13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960120" y="5458968"/>
              <a:ext cx="45720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Web / Desktop / Mobile</a:t>
              </a:r>
              <a:endParaRPr lang="en-US" sz="10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7772400" y="482346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 / 22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格式定义 — 为什么这么设计？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17320"/>
            <a:ext cx="36576" cy="32918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传统方式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HTML 模板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3566160" cy="1399032"/>
          </a:xfrm>
          <a:prstGeom prst="roundRect">
            <a:avLst>
              <a:gd name="adj" fmla="val 5455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57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class="form"&gt;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name="desc" /&gt;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onclick="submit()"&gt;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提交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r>
              <a:rPr lang="en-US" sz="900" dirty="0">
                <a:solidFill>
                  <a:srgbClr val="94A3B8"/>
                </a:solidFill>
              </a:rPr>
              <a:t>强耦合：HTML结构与样式混合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7764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r>
              <a:rPr lang="en-US" sz="900" dirty="0">
                <a:solidFill>
                  <a:srgbClr val="94A3B8"/>
                </a:solidFill>
              </a:rPr>
              <a:t>不安全：直接渲染外部HTML有XSS风险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0965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r>
              <a:rPr lang="en-US" sz="900" dirty="0">
                <a:solidFill>
                  <a:srgbClr val="94A3B8"/>
                </a:solidFill>
              </a:rPr>
              <a:t>难扩展：三端适配成本高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416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r>
              <a:rPr lang="en-US" sz="900" dirty="0">
                <a:solidFill>
                  <a:srgbClr val="94A3B8"/>
                </a:solidFill>
              </a:rPr>
              <a:t>非AI友好：大模型难以生成精确HTML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417320"/>
            <a:ext cx="36576" cy="32918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方式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JSON Schema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011680"/>
            <a:ext cx="3566160" cy="1399032"/>
          </a:xfrm>
          <a:prstGeom prst="roundRect">
            <a:avLst>
              <a:gd name="adj" fmla="val 5455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057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"Card",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"children":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"TextField",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"field": "desc" }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"Button",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"action": "submit" }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</a:t>
            </a:r>
            <a:r>
              <a:rPr lang="en-US" sz="900" dirty="0">
                <a:solidFill>
                  <a:srgbClr val="94A3B8"/>
                </a:solidFill>
              </a:rPr>
              <a:t>声明式：描述UI而非实现细节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7764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</a:t>
            </a:r>
            <a:r>
              <a:rPr lang="en-US" sz="900" dirty="0">
                <a:solidFill>
                  <a:srgbClr val="94A3B8"/>
                </a:solidFill>
              </a:rPr>
              <a:t>安全：Schema白名单渲染，无注入风险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40965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</a:t>
            </a:r>
            <a:r>
              <a:rPr lang="en-US" sz="900" dirty="0">
                <a:solidFill>
                  <a:srgbClr val="94A3B8"/>
                </a:solidFill>
              </a:rPr>
              <a:t>跨端：一套Schema多端渲染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4416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</a:t>
            </a:r>
            <a:r>
              <a:rPr lang="en-US" sz="900" dirty="0">
                <a:solidFill>
                  <a:srgbClr val="94A3B8"/>
                </a:solidFill>
              </a:rPr>
              <a:t>AI友好：大模型可直接生成JSON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 — 让团队零门槛使用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63040"/>
            <a:ext cx="36576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核心规范与使用指南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</a:rPr>
              <a:t>两种 JSON 格式：Nested 与 Flat（推荐）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496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</a:rPr>
              <a:t>四大组件类：Layout / Form / Display / Action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8437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</a:rPr>
              <a:t>数据绑定规则：value.path + value.default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1912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</a:rPr>
              <a:t>布局模式：Card+Column 表单、Row+Column 网格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5387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</a:rPr>
              <a:t>交互配置：按钮 Action 事件定义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886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</a:rPr>
              <a:t>10 条最佳实践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463040"/>
            <a:ext cx="36576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reference.md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 API 参考手册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</a:rPr>
              <a:t>Layout: A2Card A2Row A2Column A2List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</a:rPr>
              <a:t>Form: A2TextField A2Input A2Select A2SelectField A2DatePicker A2DateTimeInput A2ChoicePicker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</a:rPr>
              <a:t>Display: A2Text A2Icon A2InfoField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</a:rPr>
              <a:t>Action: A2Button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79476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0D284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840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个组件 · 4 大分类 · Props 表格 + JSON 示例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组件库开源发布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a2ui-vue-engine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" y="2286000"/>
            <a:ext cx="36576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开箱即用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即可引入，无需重复开发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2194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96896" y="2286000"/>
            <a:ext cx="36576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版本管控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2697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语义化版本，升级可控可追溯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2286000"/>
            <a:ext cx="36576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跨项目复用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697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一次开发，多系统复用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2194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2286000"/>
            <a:ext cx="36576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生态开放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697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开源可扩展，社区共建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A2UI 的价值与应用场景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63040"/>
            <a:ext cx="36576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447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零代码生成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17556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输出 JSON Schema 即可生成界面，无需手写前端代码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2514600"/>
            <a:ext cx="36576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96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安全可控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28072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Schema 白名单渲染机制，杜绝 XSS 等注入风险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" y="3566160"/>
            <a:ext cx="36576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47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跨端复用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38587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一套 Schema 多端渲染，Web / 桌面端 / 移动端通用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5488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18"/>
          <p:cNvSpPr/>
          <p:nvPr/>
        </p:nvSpPr>
        <p:spPr>
          <a:xfrm>
            <a:off x="4754880" y="13716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19"/>
          <p:cNvSpPr/>
          <p:nvPr/>
        </p:nvSpPr>
        <p:spPr>
          <a:xfrm>
            <a:off x="4791456" y="1463040"/>
            <a:ext cx="2743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20"/>
          <p:cNvSpPr/>
          <p:nvPr/>
        </p:nvSpPr>
        <p:spPr>
          <a:xfrm>
            <a:off x="4855464" y="1463040"/>
            <a:ext cx="1728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智能审批 / 流程申请</a:t>
            </a:r>
            <a:endParaRPr lang="en-US" sz="1300" dirty="0"/>
          </a:p>
        </p:txBody>
      </p:sp>
      <p:sp>
        <p:nvSpPr>
          <p:cNvPr id="40" name="Text 21"/>
          <p:cNvSpPr/>
          <p:nvPr/>
        </p:nvSpPr>
        <p:spPr>
          <a:xfrm>
            <a:off x="4937760" y="1783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权限申请、工单提交、审批流程，AI 自动生成表单</a:t>
            </a:r>
            <a:endParaRPr lang="en-US" sz="1000" dirty="0"/>
          </a:p>
        </p:txBody>
      </p:sp>
      <p:sp>
        <p:nvSpPr>
          <p:cNvPr id="41" name="Shape 22"/>
          <p:cNvSpPr/>
          <p:nvPr/>
        </p:nvSpPr>
        <p:spPr>
          <a:xfrm>
            <a:off x="6812280" y="13716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23"/>
          <p:cNvSpPr/>
          <p:nvPr/>
        </p:nvSpPr>
        <p:spPr>
          <a:xfrm>
            <a:off x="6848856" y="1463040"/>
            <a:ext cx="2743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24"/>
          <p:cNvSpPr/>
          <p:nvPr/>
        </p:nvSpPr>
        <p:spPr>
          <a:xfrm>
            <a:off x="699516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智能运维</a:t>
            </a:r>
            <a:endParaRPr lang="en-US" sz="1300" dirty="0"/>
          </a:p>
        </p:txBody>
      </p:sp>
      <p:sp>
        <p:nvSpPr>
          <p:cNvPr id="44" name="Text 25"/>
          <p:cNvSpPr/>
          <p:nvPr/>
        </p:nvSpPr>
        <p:spPr>
          <a:xfrm>
            <a:off x="6995160" y="1783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故障排查、服务重启、日志查看，对话即操作</a:t>
            </a:r>
            <a:endParaRPr lang="en-US" sz="1000" dirty="0"/>
          </a:p>
        </p:txBody>
      </p:sp>
      <p:sp>
        <p:nvSpPr>
          <p:cNvPr id="45" name="Shape 26"/>
          <p:cNvSpPr/>
          <p:nvPr/>
        </p:nvSpPr>
        <p:spPr>
          <a:xfrm>
            <a:off x="4754880" y="29718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27"/>
          <p:cNvSpPr/>
          <p:nvPr/>
        </p:nvSpPr>
        <p:spPr>
          <a:xfrm>
            <a:off x="4791456" y="3063240"/>
            <a:ext cx="2743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28"/>
          <p:cNvSpPr/>
          <p:nvPr/>
        </p:nvSpPr>
        <p:spPr>
          <a:xfrm>
            <a:off x="4937760" y="3063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</a:t>
            </a:r>
            <a:endParaRPr lang="en-US" sz="1300" dirty="0"/>
          </a:p>
        </p:txBody>
      </p:sp>
      <p:sp>
        <p:nvSpPr>
          <p:cNvPr id="48" name="Text 29"/>
          <p:cNvSpPr/>
          <p:nvPr/>
        </p:nvSpPr>
        <p:spPr>
          <a:xfrm>
            <a:off x="4937760" y="33832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运营看板、报表展示、多维筛选，AI 按需生成</a:t>
            </a:r>
            <a:endParaRPr lang="en-US" sz="1000" dirty="0"/>
          </a:p>
        </p:txBody>
      </p:sp>
      <p:sp>
        <p:nvSpPr>
          <p:cNvPr id="49" name="Shape 30"/>
          <p:cNvSpPr/>
          <p:nvPr/>
        </p:nvSpPr>
        <p:spPr>
          <a:xfrm>
            <a:off x="6812280" y="29718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31"/>
          <p:cNvSpPr/>
          <p:nvPr/>
        </p:nvSpPr>
        <p:spPr>
          <a:xfrm>
            <a:off x="6848856" y="3063240"/>
            <a:ext cx="2743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32"/>
          <p:cNvSpPr/>
          <p:nvPr/>
        </p:nvSpPr>
        <p:spPr>
          <a:xfrm>
            <a:off x="6995160" y="3063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智能客服</a:t>
            </a:r>
            <a:endParaRPr lang="en-US" sz="1300" dirty="0"/>
          </a:p>
        </p:txBody>
      </p:sp>
      <p:sp>
        <p:nvSpPr>
          <p:cNvPr id="52" name="Text 33"/>
          <p:cNvSpPr/>
          <p:nvPr/>
        </p:nvSpPr>
        <p:spPr>
          <a:xfrm>
            <a:off x="6995160" y="33832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产品咨询、售后工单、进度查询，交互式界面即时呈现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62318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743200" cy="22860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1430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背景与痛点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 / 传统 HTML 方案瓶颈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17830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42032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11430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引入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24912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开放协议 / AI 与 UI 的桥梁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53712" y="17830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18304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43000"/>
            <a:ext cx="36576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项目落地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01184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/ 运维小搭档桌面端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9984" y="17830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94576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31152" y="1143000"/>
            <a:ext cx="36576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7456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实现原理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77456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核心架构与渲染机制 / 能力封装与开源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71600" y="2834640"/>
            <a:ext cx="6400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08176" y="2889504"/>
            <a:ext cx="36576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00200" y="283464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我们不是在做一个项目，而是在沉淀一种能力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71600" y="3337560"/>
            <a:ext cx="6400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408176" y="3392424"/>
            <a:ext cx="36576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0200" y="33375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AI 不只能说话，还能“画出”界面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71600" y="3840480"/>
            <a:ext cx="6400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408176" y="3895344"/>
            <a:ext cx="36576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00200" y="38404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让大模型的能力真正触达每一个业务场景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添可 AIT 中心 · 国内营销智能部 · 陈辉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3200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938</Words>
  <Application>Microsoft Office PowerPoint</Application>
  <PresentationFormat>全屏显示(16:9)</PresentationFormat>
  <Paragraphs>298</Paragraphs>
  <Slides>23</Slides>
  <Notes>23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等线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A2UI 驱动下的前端开发实践</dc:title>
  <dc:subject>PptxGenJS Presentation</dc:subject>
  <dc:creator>陈辉</dc:creator>
  <cp:lastModifiedBy>hui.chenn(陈辉)</cp:lastModifiedBy>
  <cp:revision>9</cp:revision>
  <dcterms:created xsi:type="dcterms:W3CDTF">2026-06-08T10:00:19Z</dcterms:created>
  <dcterms:modified xsi:type="dcterms:W3CDTF">2026-06-08T11:00:12Z</dcterms:modified>
</cp:coreProperties>
</file>