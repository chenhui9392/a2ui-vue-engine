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1" r:id="rId6"/>
    <p:sldId id="264" r:id="rId7"/>
    <p:sldId id="281" r:id="rId8"/>
    <p:sldId id="265" r:id="rId9"/>
    <p:sldId id="282" r:id="rId10"/>
    <p:sldId id="266" r:id="rId11"/>
    <p:sldId id="267" r:id="rId12"/>
    <p:sldId id="268" r:id="rId13"/>
    <p:sldId id="269" r:id="rId14"/>
    <p:sldId id="270" r:id="rId15"/>
    <p:sldId id="277" r:id="rId16"/>
    <p:sldId id="278" r:id="rId17"/>
    <p:sldId id="276" r:id="rId18"/>
    <p:sldId id="271" r:id="rId19"/>
    <p:sldId id="273" r:id="rId20"/>
    <p:sldId id="274" r:id="rId21"/>
    <p:sldId id="279" r:id="rId22"/>
    <p:sldId id="28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82517" autoAdjust="0"/>
  </p:normalViewPr>
  <p:slideViewPr>
    <p:cSldViewPr snapToGrid="0" snapToObjects="1">
      <p:cViewPr varScale="1">
        <p:scale>
          <a:sx n="125" d="100"/>
          <a:sy n="125" d="100"/>
        </p:scale>
        <p:origin x="11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变更了 标题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讲内容：支持很多条业务线，开发资源单点，并行很多；其中一个业务线 有紧急需求，如何支持；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讲目标：</a:t>
            </a:r>
            <a:r>
              <a:rPr lang="en-US" altLang="zh-CN" dirty="0" smtClean="0"/>
              <a:t>AIT</a:t>
            </a:r>
            <a:r>
              <a:rPr lang="zh-CN" altLang="en-US" dirty="0" smtClean="0"/>
              <a:t>很忙</a:t>
            </a:r>
            <a:endParaRPr lang="en-US" altLang="zh-CN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altLang="zh-CN" dirty="0" smtClean="0"/>
              <a:t>//</a:t>
            </a:r>
            <a:r>
              <a:rPr lang="zh-CN" altLang="en-US" dirty="0" smtClean="0"/>
              <a:t>放一个国内</a:t>
            </a:r>
            <a:r>
              <a:rPr lang="en-US" altLang="zh-CN" dirty="0" smtClean="0"/>
              <a:t>APP</a:t>
            </a:r>
            <a:r>
              <a:rPr lang="zh-CN" altLang="en-US" dirty="0" smtClean="0"/>
              <a:t>首页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讲内容：开发方案变更</a:t>
            </a:r>
            <a:endParaRPr lang="en-US" altLang="zh-CN" dirty="0" smtClean="0"/>
          </a:p>
          <a:p>
            <a:r>
              <a:rPr lang="zh-CN" altLang="en-US" dirty="0" smtClean="0"/>
              <a:t>讲目标：让领导明白</a:t>
            </a:r>
            <a:r>
              <a:rPr lang="en-US" altLang="zh-CN" dirty="0" smtClean="0"/>
              <a:t>AIT</a:t>
            </a:r>
            <a:r>
              <a:rPr lang="zh-CN" altLang="en-US" dirty="0" smtClean="0"/>
              <a:t>转型思维变化；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快速带过，项目背景和价值不是领导们关心的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讲内容：业务诉求多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讲目标：技术方案难度大（突出挑战）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讲内容：借助</a:t>
            </a:r>
            <a:r>
              <a:rPr lang="en-US" altLang="zh-CN" dirty="0" smtClean="0"/>
              <a:t>AI</a:t>
            </a:r>
            <a:r>
              <a:rPr lang="zh-CN" altLang="en-US" dirty="0" smtClean="0"/>
              <a:t>协助输出技术选型、没开发过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 smtClean="0"/>
          </a:p>
          <a:p>
            <a:r>
              <a:rPr lang="zh-CN" altLang="en-US" dirty="0" smtClean="0"/>
              <a:t>讲目标：让领导明白</a:t>
            </a:r>
            <a:r>
              <a:rPr lang="en-US" altLang="zh-CN" dirty="0" smtClean="0"/>
              <a:t>AIT</a:t>
            </a:r>
            <a:r>
              <a:rPr lang="zh-CN" altLang="en-US" dirty="0" smtClean="0"/>
              <a:t>转型思维变化；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讲内容：转折到</a:t>
            </a:r>
            <a:r>
              <a:rPr lang="en-US" altLang="zh-CN" dirty="0" smtClean="0"/>
              <a:t>A2UI</a:t>
            </a:r>
            <a:r>
              <a:rPr lang="zh-CN" altLang="en-US" dirty="0" smtClean="0"/>
              <a:t>关键页，口述 同事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月参加技术会，回来分享了</a:t>
            </a:r>
            <a:r>
              <a:rPr lang="en-US" altLang="zh-CN" dirty="0" smtClean="0"/>
              <a:t>A2UI</a:t>
            </a:r>
            <a:r>
              <a:rPr lang="zh-CN" altLang="en-US" dirty="0" smtClean="0"/>
              <a:t>的技术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讲目标：给领导情绪价值，证明开这个会有效果</a:t>
            </a:r>
            <a:endParaRPr lang="en-US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A2UI</a:t>
            </a:r>
            <a:r>
              <a:rPr lang="zh-CN" altLang="en-US" smtClean="0"/>
              <a:t>的核心技术，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了解一下</a:t>
            </a:r>
            <a:r>
              <a:rPr lang="en-US" altLang="zh-CN" smtClean="0"/>
              <a:t>GOOLE A2UI</a:t>
            </a:r>
            <a:r>
              <a:rPr lang="zh-CN" altLang="en-US" smtClean="0"/>
              <a:t>的框架，在大模型下的作用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讲内容：除了自己用，也可以给其他同事用</a:t>
            </a:r>
            <a:endParaRPr lang="en-US" altLang="zh-CN" dirty="0" smtClean="0"/>
          </a:p>
          <a:p>
            <a:r>
              <a:rPr lang="zh-CN" altLang="en-US" dirty="0" smtClean="0"/>
              <a:t>讲目标：突出团队协作能力、为其他同事考虑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讲内容：基于珊瑚平台</a:t>
            </a:r>
            <a:endParaRPr lang="en-US" altLang="zh-CN" dirty="0" smtClean="0"/>
          </a:p>
          <a:p>
            <a:r>
              <a:rPr lang="zh-CN" altLang="en-US" dirty="0" smtClean="0"/>
              <a:t>讲目标：珊瑚同事在，证明公司珊瑚策略是对的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提供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18288"/>
          </a:xfrm>
          <a:prstGeom prst="rect">
            <a:avLst/>
          </a:prstGeom>
          <a:solidFill>
            <a:srgbClr val="02C39A">
              <a:alpha val="6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4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en-US" altLang="zh-CN" sz="40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</a:t>
            </a:r>
            <a:r>
              <a:rPr lang="zh-CN" altLang="en-US" sz="40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下前端开发</a:t>
            </a:r>
            <a:r>
              <a:rPr lang="zh-CN" altLang="en-US" sz="4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</a:t>
            </a:r>
            <a:endParaRPr lang="en-US" altLang="zh-CN" sz="4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286000" cy="18288"/>
          </a:xfrm>
          <a:prstGeom prst="rect">
            <a:avLst/>
          </a:prstGeom>
          <a:solidFill>
            <a:srgbClr val="02C39A">
              <a:alpha val="7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</a:t>
            </a:r>
            <a:r>
              <a:rPr lang="en-US" sz="14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AIT中心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</a:t>
            </a:r>
            <a:r>
              <a:rPr lang="zh-CN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营销智能部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498080" y="4572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分享内容</a:t>
            </a:r>
            <a:endParaRPr lang="zh-CN" alt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27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0" name="Card0Bg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Card0Bar"/>
          <p:cNvSpPr/>
          <p:nvPr/>
        </p:nvSpPr>
        <p:spPr>
          <a:xfrm>
            <a:off x="530352" y="1165860"/>
            <a:ext cx="45720" cy="6858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Card0Num"/>
          <p:cNvSpPr/>
          <p:nvPr/>
        </p:nvSpPr>
        <p:spPr>
          <a:xfrm>
            <a:off x="777240" y="109728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pic>
        <p:nvPicPr>
          <p:cNvPr id="13" name="Card0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80" y="1280160"/>
            <a:ext cx="457200" cy="457200"/>
          </a:xfrm>
          <a:prstGeom prst="rect">
            <a:avLst/>
          </a:prstGeom>
        </p:spPr>
      </p:pic>
      <p:sp>
        <p:nvSpPr>
          <p:cNvPr id="14" name="Card0Title"/>
          <p:cNvSpPr/>
          <p:nvPr/>
        </p:nvSpPr>
        <p:spPr>
          <a:xfrm>
            <a:off x="2138760" y="109728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初探索</a:t>
            </a:r>
            <a:r>
              <a:rPr lang="en-US" altLang="zh-CN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-</a:t>
            </a: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国内营销</a:t>
            </a:r>
            <a:r>
              <a:rPr lang="en-US" altLang="zh-CN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APP</a:t>
            </a:r>
            <a:endParaRPr lang="en-US" sz="2000" dirty="0"/>
          </a:p>
        </p:txBody>
      </p:sp>
      <p:sp>
        <p:nvSpPr>
          <p:cNvPr id="15" name="Card0Desc"/>
          <p:cNvSpPr/>
          <p:nvPr/>
        </p:nvSpPr>
        <p:spPr>
          <a:xfrm>
            <a:off x="2138760" y="150876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国内营销背景 · 现有方案与技术瓶颈</a:t>
            </a:r>
            <a:endParaRPr lang="en-US" sz="1100" dirty="0"/>
          </a:p>
        </p:txBody>
      </p:sp>
      <p:sp>
        <p:nvSpPr>
          <p:cNvPr id="16" name="Card1Bg"/>
          <p:cNvSpPr/>
          <p:nvPr/>
        </p:nvSpPr>
        <p:spPr>
          <a:xfrm>
            <a:off x="457200" y="210312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Card1Bar"/>
          <p:cNvSpPr/>
          <p:nvPr/>
        </p:nvSpPr>
        <p:spPr>
          <a:xfrm>
            <a:off x="530352" y="2217420"/>
            <a:ext cx="45720" cy="6858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8" name="Card1Num"/>
          <p:cNvSpPr/>
          <p:nvPr/>
        </p:nvSpPr>
        <p:spPr>
          <a:xfrm>
            <a:off x="777240" y="21488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pic>
        <p:nvPicPr>
          <p:cNvPr id="19" name="Card1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80" y="2331720"/>
            <a:ext cx="457200" cy="457200"/>
          </a:xfrm>
          <a:prstGeom prst="rect">
            <a:avLst/>
          </a:prstGeom>
        </p:spPr>
      </p:pic>
      <p:sp>
        <p:nvSpPr>
          <p:cNvPr id="20" name="Card1Title"/>
          <p:cNvSpPr/>
          <p:nvPr/>
        </p:nvSpPr>
        <p:spPr>
          <a:xfrm>
            <a:off x="2138760" y="21488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新挑战</a:t>
            </a:r>
            <a:r>
              <a:rPr lang="en-US" altLang="zh-CN" sz="20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-</a:t>
            </a:r>
            <a:r>
              <a:rPr lang="zh-CN" altLang="en-US" sz="2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运</a:t>
            </a:r>
            <a:r>
              <a:rPr lang="zh-CN" altLang="en-US" sz="20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维小搭档</a:t>
            </a:r>
            <a:endParaRPr lang="en-US" sz="2000" dirty="0"/>
          </a:p>
        </p:txBody>
      </p:sp>
      <p:sp>
        <p:nvSpPr>
          <p:cNvPr id="21" name="Card1Desc"/>
          <p:cNvSpPr/>
          <p:nvPr/>
        </p:nvSpPr>
        <p:spPr>
          <a:xfrm>
            <a:off x="2138760" y="256032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桌面端展示、运维痛点与技术选型</a:t>
            </a:r>
            <a:endParaRPr lang="en-US" sz="1100" dirty="0"/>
          </a:p>
        </p:txBody>
      </p:sp>
      <p:sp>
        <p:nvSpPr>
          <p:cNvPr id="22" name="Card2Bg"/>
          <p:cNvSpPr/>
          <p:nvPr/>
        </p:nvSpPr>
        <p:spPr>
          <a:xfrm>
            <a:off x="457200" y="315468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Card2Bar"/>
          <p:cNvSpPr/>
          <p:nvPr/>
        </p:nvSpPr>
        <p:spPr>
          <a:xfrm>
            <a:off x="530352" y="3268980"/>
            <a:ext cx="45720" cy="6858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4" name="Card2Num"/>
          <p:cNvSpPr/>
          <p:nvPr/>
        </p:nvSpPr>
        <p:spPr>
          <a:xfrm>
            <a:off x="777240" y="320040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pic>
        <p:nvPicPr>
          <p:cNvPr id="25" name="Card2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680" y="3383280"/>
            <a:ext cx="457200" cy="457200"/>
          </a:xfrm>
          <a:prstGeom prst="rect">
            <a:avLst/>
          </a:prstGeom>
        </p:spPr>
      </p:pic>
      <p:sp>
        <p:nvSpPr>
          <p:cNvPr id="26" name="Card2Title"/>
          <p:cNvSpPr/>
          <p:nvPr/>
        </p:nvSpPr>
        <p:spPr>
          <a:xfrm>
            <a:off x="2138760" y="32004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sz="2000" dirty="0"/>
          </a:p>
        </p:txBody>
      </p:sp>
      <p:sp>
        <p:nvSpPr>
          <p:cNvPr id="27" name="Card2Desc"/>
          <p:cNvSpPr/>
          <p:nvPr/>
        </p:nvSpPr>
        <p:spPr>
          <a:xfrm>
            <a:off x="2138760" y="361188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起源演进 · 组件能力 · 大模型协同与组件库开源 · 技术架构与渲染机制</a:t>
            </a:r>
            <a:endParaRPr lang="en-US" sz="1100" dirty="0"/>
          </a:p>
        </p:txBody>
      </p:sp>
      <p:sp>
        <p:nvSpPr>
          <p:cNvPr id="28" name="Card3Bg"/>
          <p:cNvSpPr/>
          <p:nvPr/>
        </p:nvSpPr>
        <p:spPr>
          <a:xfrm>
            <a:off x="457200" y="420624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Card3Bar"/>
          <p:cNvSpPr/>
          <p:nvPr/>
        </p:nvSpPr>
        <p:spPr>
          <a:xfrm>
            <a:off x="530352" y="4320540"/>
            <a:ext cx="45720" cy="685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Card3Num"/>
          <p:cNvSpPr/>
          <p:nvPr/>
        </p:nvSpPr>
        <p:spPr>
          <a:xfrm>
            <a:off x="777240" y="425196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31" name="Card3Title"/>
          <p:cNvSpPr/>
          <p:nvPr/>
        </p:nvSpPr>
        <p:spPr>
          <a:xfrm>
            <a:off x="2138760" y="42519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r>
              <a:rPr lang="zh-CN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能力</a:t>
            </a: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封装</a:t>
            </a:r>
            <a:endParaRPr lang="en-US" sz="2000" dirty="0"/>
          </a:p>
        </p:txBody>
      </p:sp>
      <p:sp>
        <p:nvSpPr>
          <p:cNvPr id="32" name="Card3Desc"/>
          <p:cNvSpPr/>
          <p:nvPr/>
        </p:nvSpPr>
        <p:spPr>
          <a:xfrm>
            <a:off x="2138760" y="466344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与大模型协同 · 组件库开源</a:t>
            </a:r>
            <a:endParaRPr lang="en-US" sz="1100" dirty="0"/>
          </a:p>
        </p:txBody>
      </p:sp>
      <p:sp>
        <p:nvSpPr>
          <p:cNvPr id="99" name="PageNum"/>
          <p:cNvSpPr/>
          <p:nvPr/>
        </p:nvSpPr>
        <p:spPr>
          <a:xfrm>
            <a:off x="7772400" y="474480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553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2C39A"/>
                </a:solidFill>
                <a:latin typeface="Calibri"/>
              </a:rPr>
              <a:t>国内营</a:t>
            </a:r>
            <a:r>
              <a:rPr lang="zh-CN" altLang="en-US" sz="2400" b="1" dirty="0">
                <a:solidFill>
                  <a:srgbClr val="02C39A"/>
                </a:solidFill>
                <a:latin typeface="Calibri"/>
              </a:rPr>
              <a:t>销</a:t>
            </a:r>
            <a:r>
              <a:rPr sz="2400" b="1" dirty="0" smtClean="0">
                <a:solidFill>
                  <a:srgbClr val="02C39A"/>
                </a:solidFill>
                <a:latin typeface="Calibri"/>
              </a:rPr>
              <a:t>APP</a:t>
            </a:r>
            <a:r>
              <a:rPr lang="zh-CN" altLang="en-US" sz="2400" b="1" dirty="0" smtClean="0">
                <a:solidFill>
                  <a:srgbClr val="02C39A"/>
                </a:solidFill>
                <a:latin typeface="Calibri"/>
              </a:rPr>
              <a:t>开发挑战</a:t>
            </a:r>
            <a:endParaRPr sz="2400" b="1" dirty="0">
              <a:solidFill>
                <a:srgbClr val="02C39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731520"/>
            <a:ext cx="1828800" cy="18288"/>
          </a:xfrm>
          <a:prstGeom prst="rect">
            <a:avLst/>
          </a:prstGeom>
          <a:solidFill>
            <a:srgbClr val="02C39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4867275" cy="9541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 smtClean="0">
                <a:solidFill>
                  <a:srgbClr val="FFFFFF"/>
                </a:solidFill>
              </a:rPr>
              <a:t>并行业务线多、任务多</a:t>
            </a:r>
            <a:r>
              <a:rPr sz="2800" b="1" dirty="0">
                <a:solidFill>
                  <a:srgbClr val="FFFFFF"/>
                </a:solidFill>
              </a:rPr>
              <a:t>
</a:t>
            </a:r>
            <a:r>
              <a:rPr sz="2800" b="1" dirty="0" err="1" smtClean="0">
                <a:solidFill>
                  <a:srgbClr val="FFFFFF"/>
                </a:solidFill>
              </a:rPr>
              <a:t>业务</a:t>
            </a:r>
            <a:r>
              <a:rPr lang="zh-CN" altLang="en-US" sz="2800" b="1" dirty="0" smtClean="0">
                <a:solidFill>
                  <a:srgbClr val="FFFFFF"/>
                </a:solidFill>
              </a:rPr>
              <a:t>需求</a:t>
            </a:r>
            <a:r>
              <a:rPr lang="zh-CN" altLang="en-US" sz="2800" b="1" smtClean="0">
                <a:solidFill>
                  <a:srgbClr val="FFFFFF"/>
                </a:solidFill>
              </a:rPr>
              <a:t>急</a:t>
            </a:r>
            <a:r>
              <a:rPr sz="2800" b="1" smtClean="0">
                <a:solidFill>
                  <a:srgbClr val="FFFFFF"/>
                </a:solidFill>
              </a:rPr>
              <a:t>，</a:t>
            </a:r>
            <a:r>
              <a:rPr lang="zh-CN" altLang="en-US" sz="2800" b="1" smtClean="0">
                <a:solidFill>
                  <a:srgbClr val="FFFFFF"/>
                </a:solidFill>
              </a:rPr>
              <a:t>怎么快速交付</a:t>
            </a:r>
            <a:r>
              <a:rPr sz="2800" b="1" smtClean="0">
                <a:solidFill>
                  <a:srgbClr val="FFFFFF"/>
                </a:solidFill>
              </a:rPr>
              <a:t>？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flipV="1">
            <a:off x="553212" y="2190095"/>
            <a:ext cx="4771263" cy="97869"/>
          </a:xfrm>
          <a:prstGeom prst="rect">
            <a:avLst/>
          </a:prstGeom>
          <a:solidFill>
            <a:srgbClr val="02C39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457200" y="2743200"/>
            <a:ext cx="4867275" cy="1605915"/>
            <a:chOff x="720" y="4320"/>
            <a:chExt cx="12240" cy="2304"/>
          </a:xfrm>
        </p:grpSpPr>
        <p:sp>
          <p:nvSpPr>
            <p:cNvPr id="9" name="Rounded Rectangle 8"/>
            <p:cNvSpPr/>
            <p:nvPr/>
          </p:nvSpPr>
          <p:spPr>
            <a:xfrm>
              <a:off x="720" y="4320"/>
              <a:ext cx="12240" cy="2304"/>
            </a:xfrm>
            <a:prstGeom prst="roundRect">
              <a:avLst>
                <a:gd name="adj" fmla="val 7000"/>
              </a:avLst>
            </a:prstGeom>
            <a:solidFill>
              <a:srgbClr val="1E3A5F"/>
            </a:solidFill>
            <a:ln>
              <a:noFill/>
            </a:ln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35" y="4536"/>
              <a:ext cx="72" cy="1872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80" y="4464"/>
              <a:ext cx="11520" cy="1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800"/>
                </a:spcAft>
              </a:pPr>
              <a:r>
                <a:rPr sz="1600" b="1" dirty="0" err="1">
                  <a:solidFill>
                    <a:srgbClr val="02C39A"/>
                  </a:solidFill>
                  <a:latin typeface="Calibri"/>
                </a:rPr>
                <a:t>背景</a:t>
              </a:r>
              <a:endParaRPr sz="1600" b="1" dirty="0">
                <a:solidFill>
                  <a:srgbClr val="02C39A"/>
                </a:solidFill>
                <a:latin typeface="Calibri"/>
              </a:endParaRPr>
            </a:p>
            <a:p>
              <a:pPr>
                <a:spcBef>
                  <a:spcPts val="400"/>
                </a:spcBef>
                <a:spcAft>
                  <a:spcPts val="0"/>
                </a:spcAft>
              </a:pPr>
              <a:r>
                <a:rPr sz="1300" dirty="0" err="1">
                  <a:solidFill>
                    <a:srgbClr val="94A3B8"/>
                  </a:solidFill>
                  <a:latin typeface="Calibri"/>
                </a:rPr>
                <a:t>国内营销团队面临大量页面开发需求，开发资源紧张，运营侧又需要快速</a:t>
              </a:r>
              <a:r>
                <a:rPr lang="zh-CN" altLang="en-US" sz="1300" dirty="0">
                  <a:solidFill>
                    <a:srgbClr val="94A3B8"/>
                  </a:solidFill>
                  <a:latin typeface="Calibri"/>
                </a:rPr>
                <a:t>开发报表</a:t>
              </a:r>
              <a:r>
                <a:rPr sz="1300" dirty="0" err="1">
                  <a:solidFill>
                    <a:srgbClr val="94A3B8"/>
                  </a:solidFill>
                  <a:latin typeface="Calibri"/>
                </a:rPr>
                <a:t>页面内容。如何在有限资源下高效交付</a:t>
              </a:r>
              <a:r>
                <a:rPr sz="1300" dirty="0">
                  <a:solidFill>
                    <a:srgbClr val="94A3B8"/>
                  </a:solidFill>
                  <a:latin typeface="Calibri"/>
                </a:rPr>
                <a:t>？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4 / 21</a:t>
            </a:r>
          </a:p>
        </p:txBody>
      </p:sp>
      <p:pic>
        <p:nvPicPr>
          <p:cNvPr id="14" name="图片 13" descr="upload_post_object_v2_6207879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88036"/>
            <a:ext cx="2114550" cy="45674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2C39A"/>
                </a:solidFill>
                <a:latin typeface="Calibri"/>
              </a:rPr>
              <a:t>变更：</a:t>
            </a:r>
            <a:r>
              <a:rPr sz="2400" b="1" dirty="0" err="1" smtClean="0">
                <a:solidFill>
                  <a:srgbClr val="02C39A"/>
                </a:solidFill>
                <a:latin typeface="Calibri"/>
              </a:rPr>
              <a:t>珊瑚工作流生成</a:t>
            </a:r>
            <a:r>
              <a:rPr sz="2400" b="1" dirty="0" err="1">
                <a:solidFill>
                  <a:srgbClr val="02C39A"/>
                </a:solidFill>
                <a:latin typeface="Calibri"/>
              </a:rPr>
              <a:t>HTML</a:t>
            </a:r>
            <a:r>
              <a:rPr sz="2400" b="1" dirty="0">
                <a:solidFill>
                  <a:srgbClr val="02C39A"/>
                </a:solidFill>
                <a:latin typeface="Calibri"/>
              </a:rPr>
              <a:t> → </a:t>
            </a:r>
            <a:r>
              <a:rPr sz="2400" b="1" dirty="0" err="1">
                <a:solidFill>
                  <a:srgbClr val="02C39A"/>
                </a:solidFill>
                <a:latin typeface="Calibri"/>
              </a:rPr>
              <a:t>页面渲染显示</a:t>
            </a:r>
            <a:endParaRPr sz="2400" b="1" dirty="0">
              <a:solidFill>
                <a:srgbClr val="02C39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2743200" cy="18288"/>
          </a:xfrm>
          <a:prstGeom prst="rect">
            <a:avLst/>
          </a:prstGeom>
          <a:solidFill>
            <a:srgbClr val="02C39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4910667" cy="1181438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45719" cy="938107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005840"/>
            <a:ext cx="374904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dirty="0" err="1">
                <a:solidFill>
                  <a:srgbClr val="02C39A"/>
                </a:solidFill>
                <a:latin typeface="Calibri"/>
              </a:rPr>
              <a:t>现有方案</a:t>
            </a:r>
            <a:endParaRPr sz="1800" b="1" dirty="0">
              <a:solidFill>
                <a:srgbClr val="02C39A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 dirty="0" err="1">
                <a:solidFill>
                  <a:srgbClr val="FFFFFF"/>
                </a:solidFill>
                <a:latin typeface="Calibri"/>
              </a:rPr>
              <a:t>珊瑚工作流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→ HTML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模板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→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页面渲染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5 / 21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857" y="274320"/>
            <a:ext cx="1858162" cy="4336118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66" y="2628900"/>
            <a:ext cx="6416410" cy="1981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2C39A"/>
                </a:solidFill>
                <a:latin typeface="Calibri"/>
              </a:rPr>
              <a:t>技术瓶颈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传统 HTML 模板方案的局限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743200" cy="18288"/>
          </a:xfrm>
          <a:prstGeom prst="rect">
            <a:avLst/>
          </a:prstGeom>
          <a:solidFill>
            <a:srgbClr val="02C39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560320" cy="2468880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56032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rgbClr val="02C39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2C39A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2C39A"/>
                </a:solidFill>
                <a:latin typeface="Calibri"/>
              </a:rPr>
              <a:t>交互被动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HTML 渲染对多轮复杂交互的支撑较弱，状态微调需要重新拉取或整体刷新页面。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188720"/>
            <a:ext cx="2560320" cy="2468880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29000" y="1371600"/>
            <a:ext cx="548640" cy="548640"/>
          </a:xfrm>
          <a:prstGeom prst="ellipse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6B6D4"/>
                </a:solidFill>
                <a:latin typeface="Calibri"/>
              </a:rP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适配成本高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不同端（iOS/Android/Web）对富文本或 HTML 标签的兼容性存在差异，调试繁琐。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188720"/>
            <a:ext cx="2560320" cy="2468880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118872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59E0B"/>
                </a:solidFill>
                <a:latin typeface="Calibri"/>
              </a:rPr>
              <a:t>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潜在风险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直接在端上渲染注入的外部 HTML 存在一定的安全隔离与 XSS 注入隐患。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新挑战</a:t>
            </a:r>
            <a:r>
              <a:rPr lang="en-US" altLang="zh-CN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zh-CN" alt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</a:t>
            </a:r>
            <a:r>
              <a:rPr lang="zh-CN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维小搭档桌面端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桌面端展示、运维痛点与技术选型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运维小搭档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项目背景：运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维小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搭档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0020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727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重复性事务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88720" y="19202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大量工单、权限申请等重复操作，消耗运维人力，效率低下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28032" y="160020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459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5727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经验依赖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86400" y="19202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问题排查依赖个人经验，知识难以沉淀和传承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26974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0352" y="283464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803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8072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信息孤岛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188720" y="31546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缺乏统一入口，各系统割裂，信息分散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54880" y="26974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28032" y="283464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8803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8072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难触达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486400" y="31546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能力无法以交互式界面直接触达用户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57200" y="3977640"/>
            <a:ext cx="8229600" cy="18288"/>
          </a:xfrm>
          <a:prstGeom prst="rect">
            <a:avLst/>
          </a:prstGeom>
          <a:solidFill>
            <a:srgbClr val="02C39A">
              <a:alpha val="60000"/>
            </a:srgbClr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16052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统一入口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86868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一个应用覆盖运维全场景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4160520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01752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智能交互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301752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自然语言驱动，降低门槛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4160520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6636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A2UI 赋能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516636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动态生成界面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5160" y="4160520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31520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高效协作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731520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会话全流程线上化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运维小搭档桌面端</a:t>
            </a:r>
            <a:endParaRPr lang="en-US" altLang="zh-CN" sz="110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业务诉求：灵活表单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59"/>
            <a:ext cx="4065669" cy="4131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Electron 41 构建的运维智能助手桌面应用</a:t>
            </a:r>
            <a:endParaRPr lang="en-US" sz="1400" dirty="0"/>
          </a:p>
        </p:txBody>
      </p:sp>
      <p:pic>
        <p:nvPicPr>
          <p:cNvPr id="7" name="Image 1" descr="D:\work\program\tineco\desk\opsmind\ppt_images\image1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60620" y="959890"/>
            <a:ext cx="3996772" cy="393215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8" name="Image 2" descr="D:\work\program\tineco\desk\opsmind\ppt_images\image1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" y="1828800"/>
            <a:ext cx="3840480" cy="312157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运维小搭档桌面端</a:t>
            </a:r>
            <a:endParaRPr lang="en-US" altLang="zh-CN" sz="110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挑战：</a:t>
            </a:r>
            <a:r>
              <a:rPr kumimoji="0" lang="en-US" sz="2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技术选型与核心功能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00200"/>
            <a:ext cx="45720" cy="292608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" name="Text 5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48840" y="20574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UI 组件库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48840" y="25146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Element Plus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48840" y="2971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Electron 41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动态渲染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48840" y="34290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A2UI Vue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数据流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148840" y="38862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珊瑚系统 → JSON Schema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1600200"/>
            <a:ext cx="45720" cy="2926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0" name="Text 18"/>
          <p:cNvSpPr/>
          <p:nvPr/>
        </p:nvSpPr>
        <p:spPr>
          <a:xfrm>
            <a:off x="5074920" y="16002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10312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40680" y="20574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智能聊天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440680" y="231343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实时对话 + A2UI 表单嵌入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74320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2697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会话管理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440680" y="295351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全生命周期管理 + 状态追踪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383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440680" y="33375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悬浮球与托盘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5440680" y="359359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置顶悬浮球 + 系统托盘集成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402336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40680" y="397764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A2UI 动态渲染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5440680" y="4233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 + 零代码扩展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4" name="图片 33" descr="upload_post_object_v2_8395035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825" y="530352"/>
            <a:ext cx="738831" cy="740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smtClean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199" y="2560320"/>
            <a:ext cx="5716577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en-US" sz="3600" b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zh-CN" altLang="en-US" sz="3600" b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25755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Google 的愿景到企业级组件库实践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zh-CN" altLang="en-US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</a:t>
            </a:r>
            <a:r>
              <a:rPr lang="en-US" sz="3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呢</a:t>
            </a:r>
            <a:r>
              <a:rPr lang="zh-CN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？</a:t>
            </a:r>
            <a:endParaRPr lang="en-US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1714317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1858381"/>
            <a:ext cx="45720" cy="13716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4" name="Text 12"/>
          <p:cNvSpPr/>
          <p:nvPr/>
        </p:nvSpPr>
        <p:spPr>
          <a:xfrm>
            <a:off x="777240" y="2073417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对话即界面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用户通过自然语言与 AI 对话，AI 实时生成可交互的 UI 界面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671507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界面即对话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界面上的交互操作直接反馈到 AI 对话流中，形成闭环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阶段一：输入一段话自动生成表单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pic>
        <p:nvPicPr>
          <p:cNvPr id="5" name="Video_20260526133529">
            <a:hlinkClick r:id="" action="ppaction://media"/>
          </p:cNvPr>
          <p:cNvPicPr/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29291" y="1463066"/>
            <a:ext cx="4873316" cy="3509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393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— </a:t>
            </a:r>
            <a:r>
              <a:rPr lang="en-US" altLang="zh-CN" sz="11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从需求中诞生的方案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阶段二：根据提示词生成 — 网络权限申请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9" name="右箭头 8"/>
          <p:cNvSpPr/>
          <p:nvPr userDrawn="1"/>
        </p:nvSpPr>
        <p:spPr>
          <a:xfrm>
            <a:off x="4674385" y="2802131"/>
            <a:ext cx="407019" cy="295839"/>
          </a:xfrm>
          <a:prstGeom prst="rightArrow">
            <a:avLst/>
          </a:prstGeom>
          <a:solidFill>
            <a:srgbClr val="FFC000"/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0" name="图片 9" descr="upload_post_object_v2_25034207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1" y="1367955"/>
            <a:ext cx="4115232" cy="338693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234796" y="1258410"/>
            <a:ext cx="3635528" cy="3383280"/>
            <a:chOff x="4846320" y="1336916"/>
            <a:chExt cx="3635528" cy="3383280"/>
          </a:xfrm>
        </p:grpSpPr>
        <p:sp>
          <p:nvSpPr>
            <p:cNvPr id="12" name="Shape 3"/>
            <p:cNvSpPr/>
            <p:nvPr/>
          </p:nvSpPr>
          <p:spPr>
            <a:xfrm>
              <a:off x="4846320" y="1336916"/>
              <a:ext cx="3635528" cy="3383280"/>
            </a:xfrm>
            <a:prstGeom prst="roundRect">
              <a:avLst>
                <a:gd name="adj" fmla="val 2500"/>
              </a:avLst>
            </a:prstGeom>
            <a:solidFill>
              <a:srgbClr val="0D1B2A"/>
            </a:solidFill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3" name="Shape 4"/>
            <p:cNvSpPr/>
            <p:nvPr/>
          </p:nvSpPr>
          <p:spPr>
            <a:xfrm>
              <a:off x="4919472" y="1474076"/>
              <a:ext cx="45720" cy="3108960"/>
            </a:xfrm>
            <a:prstGeom prst="rect">
              <a:avLst/>
            </a:prstGeom>
            <a:solidFill>
              <a:srgbClr val="F59E0B"/>
            </a:solidFill>
          </p:spPr>
        </p:sp>
        <p:sp>
          <p:nvSpPr>
            <p:cNvPr id="14" name="Text 5"/>
            <p:cNvSpPr/>
            <p:nvPr/>
          </p:nvSpPr>
          <p:spPr>
            <a:xfrm>
              <a:off x="5166360" y="1428356"/>
              <a:ext cx="237744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sz="1200" b="1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入</a:t>
              </a:r>
              <a:r>
                <a:rPr lang="en-US" sz="1200" b="1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参</a:t>
              </a:r>
              <a:endParaRPr lang="en-US" sz="12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038345" y="1702677"/>
              <a:ext cx="3329992" cy="2923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参数名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说明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类型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必填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取值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|--------|------|------|------|------|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`swqx` | </a:t>
              </a:r>
              <a:r>
                <a:rPr lang="zh-CN" altLang="en-US" sz="800">
                  <a:solidFill>
                    <a:schemeClr val="bg1"/>
                  </a:solidFill>
                </a:rPr>
                <a:t>上网权限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</a:t>
              </a:r>
              <a:r>
                <a:rPr lang="zh-CN" altLang="en-US" sz="800">
                  <a:solidFill>
                    <a:schemeClr val="bg1"/>
                  </a:solidFill>
                </a:rPr>
                <a:t>网站浏览</a:t>
              </a:r>
              <a:r>
                <a:rPr lang="en-US" altLang="zh-CN" sz="800">
                  <a:solidFill>
                    <a:schemeClr val="bg1"/>
                  </a:solidFill>
                </a:rPr>
                <a:t>, 1: </a:t>
              </a:r>
              <a:r>
                <a:rPr lang="zh-CN" altLang="en-US" sz="800">
                  <a:solidFill>
                    <a:schemeClr val="bg1"/>
                  </a:solidFill>
                </a:rPr>
                <a:t>招聘网站</a:t>
              </a:r>
              <a:r>
                <a:rPr lang="en-US" altLang="zh-CN" sz="800">
                  <a:solidFill>
                    <a:schemeClr val="bg1"/>
                  </a:solidFill>
                </a:rPr>
                <a:t>, 2: </a:t>
              </a:r>
              <a:r>
                <a:rPr lang="zh-CN" altLang="en-US" sz="800">
                  <a:solidFill>
                    <a:schemeClr val="bg1"/>
                  </a:solidFill>
                </a:rPr>
                <a:t>网盘权限（非公司网盘）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`imqx` | IM</a:t>
              </a:r>
              <a:r>
                <a:rPr lang="zh-CN" altLang="en-US" sz="800">
                  <a:solidFill>
                    <a:schemeClr val="bg1"/>
                  </a:solidFill>
                </a:rPr>
                <a:t>权限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1: Teams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2: 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3: Teams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4: E-link 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`yxqx` | </a:t>
              </a:r>
              <a:r>
                <a:rPr lang="zh-CN" altLang="en-US" sz="800">
                  <a:solidFill>
                    <a:schemeClr val="bg1"/>
                  </a:solidFill>
                </a:rPr>
                <a:t>邮箱权限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</a:t>
              </a:r>
              <a:r>
                <a:rPr lang="zh-CN" altLang="en-US" sz="800">
                  <a:solidFill>
                    <a:schemeClr val="bg1"/>
                  </a:solidFill>
                </a:rPr>
                <a:t>邮件外发（公司邮箱）</a:t>
              </a:r>
              <a:r>
                <a:rPr lang="en-US" altLang="zh-CN" sz="800">
                  <a:solidFill>
                    <a:schemeClr val="bg1"/>
                  </a:solidFill>
                </a:rPr>
                <a:t>, 1: </a:t>
              </a:r>
              <a:r>
                <a:rPr lang="zh-CN" altLang="en-US" sz="800">
                  <a:solidFill>
                    <a:schemeClr val="bg1"/>
                  </a:solidFill>
                </a:rPr>
                <a:t>手机邮箱（公司邮箱）</a:t>
              </a:r>
              <a:r>
                <a:rPr lang="en-US" altLang="zh-CN" sz="800">
                  <a:solidFill>
                    <a:schemeClr val="bg1"/>
                  </a:solidFill>
                </a:rPr>
                <a:t>, 2: </a:t>
              </a:r>
              <a:r>
                <a:rPr lang="zh-CN" altLang="en-US" sz="800">
                  <a:solidFill>
                    <a:schemeClr val="bg1"/>
                  </a:solidFill>
                </a:rPr>
                <a:t>外部邮箱（非公司邮箱）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`usbqx` | USB</a:t>
              </a:r>
              <a:r>
                <a:rPr lang="zh-CN" altLang="en-US" sz="800">
                  <a:solidFill>
                    <a:schemeClr val="bg1"/>
                  </a:solidFill>
                </a:rPr>
                <a:t>权限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USB-</a:t>
              </a:r>
              <a:r>
                <a:rPr lang="zh-CN" altLang="en-US" sz="800">
                  <a:solidFill>
                    <a:schemeClr val="bg1"/>
                  </a:solidFill>
                </a:rPr>
                <a:t>只读</a:t>
              </a:r>
              <a:r>
                <a:rPr lang="en-US" altLang="zh-CN" sz="800">
                  <a:solidFill>
                    <a:schemeClr val="bg1"/>
                  </a:solidFill>
                </a:rPr>
                <a:t>, 1: USB-</a:t>
              </a:r>
              <a:r>
                <a:rPr lang="zh-CN" altLang="en-US" sz="800">
                  <a:solidFill>
                    <a:schemeClr val="bg1"/>
                  </a:solidFill>
                </a:rPr>
                <a:t>读写</a:t>
              </a:r>
              <a:r>
                <a:rPr lang="en-US" altLang="zh-CN" sz="800">
                  <a:solidFill>
                    <a:schemeClr val="bg1"/>
                  </a:solidFill>
                </a:rPr>
                <a:t>, 2: USB-</a:t>
              </a:r>
              <a:r>
                <a:rPr lang="zh-CN" altLang="en-US" sz="800">
                  <a:solidFill>
                    <a:schemeClr val="bg1"/>
                  </a:solidFill>
                </a:rPr>
                <a:t>研发专属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`vpnqx` | VPN</a:t>
              </a:r>
              <a:r>
                <a:rPr lang="zh-CN" altLang="en-US" sz="800">
                  <a:solidFill>
                    <a:schemeClr val="bg1"/>
                  </a:solidFill>
                </a:rPr>
                <a:t>权限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</a:t>
              </a:r>
              <a:r>
                <a:rPr lang="zh-CN" altLang="en-US" sz="800">
                  <a:solidFill>
                    <a:schemeClr val="bg1"/>
                  </a:solidFill>
                </a:rPr>
                <a:t>全系统资源组</a:t>
              </a:r>
              <a:r>
                <a:rPr lang="en-US" altLang="zh-CN" sz="800">
                  <a:solidFill>
                    <a:schemeClr val="bg1"/>
                  </a:solidFill>
                </a:rPr>
                <a:t>, 1: </a:t>
              </a:r>
              <a:r>
                <a:rPr lang="zh-CN" altLang="en-US" sz="800">
                  <a:solidFill>
                    <a:schemeClr val="bg1"/>
                  </a:solidFill>
                </a:rPr>
                <a:t>研发堡垒机资源组</a:t>
              </a:r>
              <a:r>
                <a:rPr lang="en-US" altLang="zh-CN" sz="800">
                  <a:solidFill>
                    <a:schemeClr val="bg1"/>
                  </a:solidFill>
                </a:rPr>
                <a:t>, 2: </a:t>
              </a:r>
              <a:r>
                <a:rPr lang="zh-CN" altLang="en-US" sz="800">
                  <a:solidFill>
                    <a:schemeClr val="bg1"/>
                  </a:solidFill>
                </a:rPr>
                <a:t>海外子公司</a:t>
              </a:r>
              <a:r>
                <a:rPr lang="en-US" altLang="zh-CN" sz="800">
                  <a:solidFill>
                    <a:schemeClr val="bg1"/>
                  </a:solidFill>
                </a:rPr>
                <a:t>/</a:t>
              </a:r>
              <a:r>
                <a:rPr lang="zh-CN" altLang="en-US" sz="800">
                  <a:solidFill>
                    <a:schemeClr val="bg1"/>
                  </a:solidFill>
                </a:rPr>
                <a:t>国内大区资源组</a:t>
              </a:r>
              <a:r>
                <a:rPr lang="en-US" altLang="zh-CN" sz="800">
                  <a:solidFill>
                    <a:schemeClr val="bg1"/>
                  </a:solidFill>
                </a:rPr>
                <a:t>, 3: </a:t>
              </a:r>
              <a:r>
                <a:rPr lang="zh-CN" altLang="en-US" sz="800">
                  <a:solidFill>
                    <a:schemeClr val="bg1"/>
                  </a:solidFill>
                </a:rPr>
                <a:t>合作商资源组（非公司员工）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`qtqx` | </a:t>
              </a:r>
              <a:r>
                <a:rPr lang="zh-CN" altLang="en-US" sz="800">
                  <a:solidFill>
                    <a:schemeClr val="bg1"/>
                  </a:solidFill>
                </a:rPr>
                <a:t>其他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</a:t>
              </a:r>
              <a:r>
                <a:rPr lang="zh-CN" altLang="en-US" sz="800">
                  <a:solidFill>
                    <a:schemeClr val="bg1"/>
                  </a:solidFill>
                </a:rPr>
                <a:t>其他（当没有匹配到任何具体权限类别时默认）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`sqyy` | </a:t>
              </a:r>
              <a:r>
                <a:rPr lang="zh-CN" altLang="en-US" sz="800">
                  <a:solidFill>
                    <a:schemeClr val="bg1"/>
                  </a:solidFill>
                </a:rPr>
                <a:t>申请原因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用户描述的申请原因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`workflowId` | </a:t>
              </a:r>
              <a:r>
                <a:rPr lang="zh-CN" altLang="en-US" sz="800">
                  <a:solidFill>
                    <a:schemeClr val="bg1"/>
                  </a:solidFill>
                </a:rPr>
                <a:t>流程</a:t>
              </a:r>
              <a:r>
                <a:rPr lang="en-US" altLang="zh-CN" sz="800">
                  <a:solidFill>
                    <a:schemeClr val="bg1"/>
                  </a:solidFill>
                </a:rPr>
                <a:t>ID 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测试（</a:t>
              </a:r>
              <a:r>
                <a:rPr lang="en-US" altLang="zh-CN" sz="800">
                  <a:solidFill>
                    <a:schemeClr val="bg1"/>
                  </a:solidFill>
                </a:rPr>
                <a:t>479546</a:t>
              </a:r>
              <a:r>
                <a:rPr lang="zh-CN" altLang="en-US" sz="800">
                  <a:solidFill>
                    <a:schemeClr val="bg1"/>
                  </a:solidFill>
                </a:rPr>
                <a:t>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`tableId` | </a:t>
              </a:r>
              <a:r>
                <a:rPr lang="zh-CN" altLang="en-US" sz="800">
                  <a:solidFill>
                    <a:schemeClr val="bg1"/>
                  </a:solidFill>
                </a:rPr>
                <a:t>表单</a:t>
              </a:r>
              <a:r>
                <a:rPr lang="en-US" altLang="zh-CN" sz="800">
                  <a:solidFill>
                    <a:schemeClr val="bg1"/>
                  </a:solidFill>
                </a:rPr>
                <a:t>ID 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默认值</a:t>
              </a:r>
              <a:r>
                <a:rPr lang="en-US" altLang="zh-CN" sz="800">
                  <a:solidFill>
                    <a:schemeClr val="bg1"/>
                  </a:solidFill>
                </a:rPr>
                <a:t>983 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`requestName` | </a:t>
              </a:r>
              <a:r>
                <a:rPr lang="zh-CN" altLang="en-US" sz="800">
                  <a:solidFill>
                    <a:schemeClr val="bg1"/>
                  </a:solidFill>
                </a:rPr>
                <a:t>流程标题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网络权限申请流程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`isNextFlow` | </a:t>
              </a:r>
              <a:r>
                <a:rPr lang="zh-CN" altLang="en-US" sz="800">
                  <a:solidFill>
                    <a:schemeClr val="bg1"/>
                  </a:solidFill>
                </a:rPr>
                <a:t>是否默认流转下一节点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0</a:t>
              </a:r>
              <a:r>
                <a:rPr lang="zh-CN" altLang="en-US" sz="800">
                  <a:solidFill>
                    <a:schemeClr val="bg1"/>
                  </a:solidFill>
                </a:rPr>
                <a:t>：否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`workCode` | </a:t>
              </a:r>
              <a:r>
                <a:rPr lang="zh-CN" altLang="en-US" sz="800">
                  <a:solidFill>
                    <a:schemeClr val="bg1"/>
                  </a:solidFill>
                </a:rPr>
                <a:t>流程创建人工号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工号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`hrm_sqr` | </a:t>
              </a:r>
              <a:r>
                <a:rPr lang="zh-CN" altLang="en-US" sz="800">
                  <a:solidFill>
                    <a:schemeClr val="bg1"/>
                  </a:solidFill>
                </a:rPr>
                <a:t>申请人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工号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`dept_sqbm` | </a:t>
              </a:r>
              <a:r>
                <a:rPr lang="zh-CN" altLang="en-US" sz="800">
                  <a:solidFill>
                    <a:schemeClr val="bg1"/>
                  </a:solidFill>
                </a:rPr>
                <a:t>申请部门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部门编码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  <a:endParaRPr lang="zh-CN" altLang="en-US" sz="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阶段二：根据提示词生成 — 网络权限申请</a:t>
            </a:r>
            <a:endParaRPr lang="en-US" sz="2000" dirty="0"/>
          </a:p>
        </p:txBody>
      </p:sp>
      <p:pic>
        <p:nvPicPr>
          <p:cNvPr id="5" name="Image 0" descr="D:\work\program\tineco\desk\opsmind\ppt_images\image16.jpe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93575" y="424092"/>
            <a:ext cx="3393225" cy="4467948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23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662152" y="1404708"/>
            <a:ext cx="3635528" cy="3535860"/>
            <a:chOff x="4846320" y="1336916"/>
            <a:chExt cx="3635528" cy="3535860"/>
          </a:xfrm>
        </p:grpSpPr>
        <p:sp>
          <p:nvSpPr>
            <p:cNvPr id="6" name="Shape 3"/>
            <p:cNvSpPr/>
            <p:nvPr/>
          </p:nvSpPr>
          <p:spPr>
            <a:xfrm>
              <a:off x="4846320" y="1336916"/>
              <a:ext cx="3635528" cy="3383280"/>
            </a:xfrm>
            <a:prstGeom prst="roundRect">
              <a:avLst>
                <a:gd name="adj" fmla="val 2500"/>
              </a:avLst>
            </a:prstGeom>
            <a:solidFill>
              <a:srgbClr val="0D1B2A"/>
            </a:solidFill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7" name="Shape 4"/>
            <p:cNvSpPr/>
            <p:nvPr/>
          </p:nvSpPr>
          <p:spPr>
            <a:xfrm>
              <a:off x="4919472" y="1474075"/>
              <a:ext cx="45719" cy="3301299"/>
            </a:xfrm>
            <a:prstGeom prst="rect">
              <a:avLst/>
            </a:prstGeom>
            <a:solidFill>
              <a:srgbClr val="F59E0B"/>
            </a:solidFill>
          </p:spPr>
        </p:sp>
        <p:sp>
          <p:nvSpPr>
            <p:cNvPr id="8" name="Text 5"/>
            <p:cNvSpPr/>
            <p:nvPr/>
          </p:nvSpPr>
          <p:spPr>
            <a:xfrm>
              <a:off x="5166360" y="1428356"/>
              <a:ext cx="237744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提示词参数</a:t>
              </a:r>
              <a:endParaRPr lang="en-US" sz="12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038345" y="1702677"/>
              <a:ext cx="3329992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</a:rPr>
                <a:t>你是网络权限申请流程智能助理，需严格按照以下规则处理用户请求：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### </a:t>
              </a:r>
              <a:r>
                <a:rPr lang="zh-CN" altLang="en-US" sz="800">
                  <a:solidFill>
                    <a:schemeClr val="bg1"/>
                  </a:solidFill>
                </a:rPr>
                <a:t>一、固定参数预设（无需用户提供）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</a:t>
              </a:r>
              <a:r>
                <a:rPr lang="zh-CN" altLang="en-US" sz="800">
                  <a:solidFill>
                    <a:schemeClr val="bg1"/>
                  </a:solidFill>
                </a:rPr>
                <a:t>请求地址</a:t>
              </a:r>
              <a:r>
                <a:rPr lang="en-US" altLang="zh-CN" sz="800">
                  <a:solidFill>
                    <a:schemeClr val="bg1"/>
                  </a:solidFill>
                </a:rPr>
                <a:t>`url`</a:t>
              </a:r>
              <a:r>
                <a:rPr lang="zh-CN" altLang="en-US" sz="800">
                  <a:solidFill>
                    <a:schemeClr val="bg1"/>
                  </a:solidFill>
                </a:rPr>
                <a:t>固定为：</a:t>
              </a:r>
              <a:r>
                <a:rPr lang="en-US" altLang="zh-CN" sz="800">
                  <a:solidFill>
                    <a:schemeClr val="bg1"/>
                  </a:solidFill>
                </a:rPr>
                <a:t>`https://esb-gateway.tineco.com/restcloud/oa/v1/workflowNEW/create`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</a:t>
              </a:r>
              <a:r>
                <a:rPr lang="zh-CN" altLang="en-US" sz="800">
                  <a:solidFill>
                    <a:schemeClr val="bg1"/>
                  </a:solidFill>
                </a:rPr>
                <a:t>入参默认值：</a:t>
              </a:r>
              <a:r>
                <a:rPr lang="en-US" altLang="zh-CN" sz="800">
                  <a:solidFill>
                    <a:schemeClr val="bg1"/>
                  </a:solidFill>
                </a:rPr>
                <a:t>`workflowId`="479546"</a:t>
              </a:r>
              <a:r>
                <a:rPr lang="zh-CN" altLang="en-US" sz="800">
                  <a:solidFill>
                    <a:schemeClr val="bg1"/>
                  </a:solidFill>
                </a:rPr>
                <a:t>、</a:t>
              </a:r>
              <a:r>
                <a:rPr lang="en-US" altLang="zh-CN" sz="800">
                  <a:solidFill>
                    <a:schemeClr val="bg1"/>
                  </a:solidFill>
                </a:rPr>
                <a:t>`tableId`="983"</a:t>
              </a:r>
              <a:r>
                <a:rPr lang="zh-CN" altLang="en-US" sz="800">
                  <a:solidFill>
                    <a:schemeClr val="bg1"/>
                  </a:solidFill>
                </a:rPr>
                <a:t>、</a:t>
              </a:r>
              <a:r>
                <a:rPr lang="en-US" altLang="zh-CN" sz="800">
                  <a:solidFill>
                    <a:schemeClr val="bg1"/>
                  </a:solidFill>
                </a:rPr>
                <a:t>`requestName`="</a:t>
              </a:r>
              <a:r>
                <a:rPr lang="zh-CN" altLang="en-US" sz="800">
                  <a:solidFill>
                    <a:schemeClr val="bg1"/>
                  </a:solidFill>
                </a:rPr>
                <a:t>网络权限申请流程</a:t>
              </a:r>
              <a:r>
                <a:rPr lang="en-US" altLang="zh-CN" sz="800">
                  <a:solidFill>
                    <a:schemeClr val="bg1"/>
                  </a:solidFill>
                </a:rPr>
                <a:t>"</a:t>
              </a:r>
              <a:r>
                <a:rPr lang="zh-CN" altLang="en-US" sz="800">
                  <a:solidFill>
                    <a:schemeClr val="bg1"/>
                  </a:solidFill>
                </a:rPr>
                <a:t>、</a:t>
              </a:r>
              <a:r>
                <a:rPr lang="en-US" altLang="zh-CN" sz="800">
                  <a:solidFill>
                    <a:schemeClr val="bg1"/>
                  </a:solidFill>
                </a:rPr>
                <a:t>`isNextFlow`="0"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### </a:t>
              </a:r>
              <a:r>
                <a:rPr lang="zh-CN" altLang="en-US" sz="800">
                  <a:solidFill>
                    <a:schemeClr val="bg1"/>
                  </a:solidFill>
                </a:rPr>
                <a:t>二、参数收集规则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1. </a:t>
              </a:r>
              <a:r>
                <a:rPr lang="zh-CN" altLang="en-US" sz="800">
                  <a:solidFill>
                    <a:schemeClr val="bg1"/>
                  </a:solidFill>
                </a:rPr>
                <a:t>必须收集的必填参数：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</a:t>
              </a:r>
              <a:r>
                <a:rPr lang="zh-CN" altLang="en-US" sz="800">
                  <a:solidFill>
                    <a:schemeClr val="bg1"/>
                  </a:solidFill>
                </a:rPr>
                <a:t>申请人的</a:t>
              </a:r>
              <a:r>
                <a:rPr lang="en-US" altLang="zh-CN" sz="800">
                  <a:solidFill>
                    <a:schemeClr val="bg1"/>
                  </a:solidFill>
                </a:rPr>
                <a:t>`workCode`</a:t>
              </a:r>
              <a:r>
                <a:rPr lang="zh-CN" altLang="en-US" sz="800">
                  <a:solidFill>
                    <a:schemeClr val="bg1"/>
                  </a:solidFill>
                </a:rPr>
                <a:t>（工号）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`sqyy`</a:t>
              </a:r>
              <a:r>
                <a:rPr lang="zh-CN" altLang="en-US" sz="800">
                  <a:solidFill>
                    <a:schemeClr val="bg1"/>
                  </a:solidFill>
                </a:rPr>
                <a:t>（申请原因）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</a:t>
              </a:r>
              <a:r>
                <a:rPr lang="zh-CN" altLang="en-US" sz="800">
                  <a:solidFill>
                    <a:schemeClr val="bg1"/>
                  </a:solidFill>
                </a:rPr>
                <a:t>申请人的</a:t>
              </a:r>
              <a:r>
                <a:rPr lang="en-US" altLang="zh-CN" sz="800">
                  <a:solidFill>
                    <a:schemeClr val="bg1"/>
                  </a:solidFill>
                </a:rPr>
                <a:t>`hrm_sqr`</a:t>
              </a:r>
              <a:r>
                <a:rPr lang="zh-CN" altLang="en-US" sz="800">
                  <a:solidFill>
                    <a:schemeClr val="bg1"/>
                  </a:solidFill>
                </a:rPr>
                <a:t>（工号）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</a:t>
              </a:r>
              <a:r>
                <a:rPr lang="zh-CN" altLang="en-US" sz="800">
                  <a:solidFill>
                    <a:schemeClr val="bg1"/>
                  </a:solidFill>
                </a:rPr>
                <a:t>申请人的</a:t>
              </a:r>
              <a:r>
                <a:rPr lang="en-US" altLang="zh-CN" sz="800">
                  <a:solidFill>
                    <a:schemeClr val="bg1"/>
                  </a:solidFill>
                </a:rPr>
                <a:t>`dept_sqbm`</a:t>
              </a:r>
              <a:r>
                <a:rPr lang="zh-CN" altLang="en-US" sz="800">
                  <a:solidFill>
                    <a:schemeClr val="bg1"/>
                  </a:solidFill>
                </a:rPr>
                <a:t>（部门编码）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2. </a:t>
              </a:r>
              <a:r>
                <a:rPr lang="zh-CN" altLang="en-US" sz="800">
                  <a:solidFill>
                    <a:schemeClr val="bg1"/>
                  </a:solidFill>
                </a:rPr>
                <a:t>可选权限参数（用户有提到才收集，没提到无需主动询问）：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`swqx`</a:t>
              </a:r>
              <a:r>
                <a:rPr lang="zh-CN" altLang="en-US" sz="800">
                  <a:solidFill>
                    <a:schemeClr val="bg1"/>
                  </a:solidFill>
                </a:rPr>
                <a:t>（上网权限）：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网站浏览、</a:t>
              </a:r>
              <a:r>
                <a:rPr lang="en-US" altLang="zh-CN" sz="800">
                  <a:solidFill>
                    <a:schemeClr val="bg1"/>
                  </a:solidFill>
                </a:rPr>
                <a:t>1=</a:t>
              </a:r>
              <a:r>
                <a:rPr lang="zh-CN" altLang="en-US" sz="800">
                  <a:solidFill>
                    <a:schemeClr val="bg1"/>
                  </a:solidFill>
                </a:rPr>
                <a:t>招聘网站、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网盘权限（非公司网盘）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`imqx`</a:t>
              </a:r>
              <a:r>
                <a:rPr lang="zh-CN" altLang="en-US" sz="800">
                  <a:solidFill>
                    <a:schemeClr val="bg1"/>
                  </a:solidFill>
                </a:rPr>
                <a:t>（</a:t>
              </a:r>
              <a:r>
                <a:rPr lang="en-US" altLang="zh-CN" sz="800">
                  <a:solidFill>
                    <a:schemeClr val="bg1"/>
                  </a:solidFill>
                </a:rPr>
                <a:t>IM</a:t>
              </a:r>
              <a:r>
                <a:rPr lang="zh-CN" altLang="en-US" sz="800">
                  <a:solidFill>
                    <a:schemeClr val="bg1"/>
                  </a:solidFill>
                </a:rPr>
                <a:t>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1=Teams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3=Teams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4=E-link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`yxqx`</a:t>
              </a:r>
              <a:r>
                <a:rPr lang="zh-CN" altLang="en-US" sz="800">
                  <a:solidFill>
                    <a:schemeClr val="bg1"/>
                  </a:solidFill>
                </a:rPr>
                <a:t>（邮箱权限）：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邮件外发（公司邮箱）、</a:t>
              </a:r>
              <a:r>
                <a:rPr lang="en-US" altLang="zh-CN" sz="800">
                  <a:solidFill>
                    <a:schemeClr val="bg1"/>
                  </a:solidFill>
                </a:rPr>
                <a:t>1=</a:t>
              </a:r>
              <a:r>
                <a:rPr lang="zh-CN" altLang="en-US" sz="800">
                  <a:solidFill>
                    <a:schemeClr val="bg1"/>
                  </a:solidFill>
                </a:rPr>
                <a:t>手机邮箱（公司邮箱）、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外部邮箱（非公司邮箱）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`usbqx`</a:t>
              </a:r>
              <a:r>
                <a:rPr lang="zh-CN" altLang="en-US" sz="800">
                  <a:solidFill>
                    <a:schemeClr val="bg1"/>
                  </a:solidFill>
                </a:rPr>
                <a:t>（</a:t>
              </a:r>
              <a:r>
                <a:rPr lang="en-US" altLang="zh-CN" sz="800">
                  <a:solidFill>
                    <a:schemeClr val="bg1"/>
                  </a:solidFill>
                </a:rPr>
                <a:t>USB</a:t>
              </a:r>
              <a:r>
                <a:rPr lang="zh-CN" altLang="en-US" sz="800">
                  <a:solidFill>
                    <a:schemeClr val="bg1"/>
                  </a:solidFill>
                </a:rPr>
                <a:t>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0=USB-</a:t>
              </a:r>
              <a:r>
                <a:rPr lang="zh-CN" altLang="en-US" sz="800">
                  <a:solidFill>
                    <a:schemeClr val="bg1"/>
                  </a:solidFill>
                </a:rPr>
                <a:t>只读、</a:t>
              </a:r>
              <a:r>
                <a:rPr lang="en-US" altLang="zh-CN" sz="800">
                  <a:solidFill>
                    <a:schemeClr val="bg1"/>
                  </a:solidFill>
                </a:rPr>
                <a:t>1=USB-</a:t>
              </a:r>
              <a:r>
                <a:rPr lang="zh-CN" altLang="en-US" sz="800">
                  <a:solidFill>
                    <a:schemeClr val="bg1"/>
                  </a:solidFill>
                </a:rPr>
                <a:t>读写、</a:t>
              </a:r>
              <a:r>
                <a:rPr lang="en-US" altLang="zh-CN" sz="800">
                  <a:solidFill>
                    <a:schemeClr val="bg1"/>
                  </a:solidFill>
                </a:rPr>
                <a:t>2=USB-</a:t>
              </a:r>
              <a:r>
                <a:rPr lang="zh-CN" altLang="en-US" sz="800">
                  <a:solidFill>
                    <a:schemeClr val="bg1"/>
                  </a:solidFill>
                </a:rPr>
                <a:t>研发专属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`vpnqx`</a:t>
              </a:r>
              <a:r>
                <a:rPr lang="zh-CN" altLang="en-US" sz="800">
                  <a:solidFill>
                    <a:schemeClr val="bg1"/>
                  </a:solidFill>
                </a:rPr>
                <a:t>（</a:t>
              </a:r>
              <a:r>
                <a:rPr lang="en-US" altLang="zh-CN" sz="800">
                  <a:solidFill>
                    <a:schemeClr val="bg1"/>
                  </a:solidFill>
                </a:rPr>
                <a:t>VPN</a:t>
              </a:r>
              <a:r>
                <a:rPr lang="zh-CN" altLang="en-US" sz="800">
                  <a:solidFill>
                    <a:schemeClr val="bg1"/>
                  </a:solidFill>
                </a:rPr>
                <a:t>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全系统资源组、</a:t>
              </a:r>
              <a:r>
                <a:rPr lang="en-US" altLang="zh-CN" sz="800">
                  <a:solidFill>
                    <a:schemeClr val="bg1"/>
                  </a:solidFill>
                </a:rPr>
                <a:t>1=</a:t>
              </a:r>
              <a:r>
                <a:rPr lang="zh-CN" altLang="en-US" sz="800">
                  <a:solidFill>
                    <a:schemeClr val="bg1"/>
                  </a:solidFill>
                </a:rPr>
                <a:t>研发堡垒机资源组、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海外子公司</a:t>
              </a:r>
              <a:r>
                <a:rPr lang="en-US" altLang="zh-CN" sz="800">
                  <a:solidFill>
                    <a:schemeClr val="bg1"/>
                  </a:solidFill>
                </a:rPr>
                <a:t>/</a:t>
              </a:r>
              <a:r>
                <a:rPr lang="zh-CN" altLang="en-US" sz="800">
                  <a:solidFill>
                    <a:schemeClr val="bg1"/>
                  </a:solidFill>
                </a:rPr>
                <a:t>国内大区资源组、</a:t>
              </a:r>
              <a:r>
                <a:rPr lang="en-US" altLang="zh-CN" sz="800">
                  <a:solidFill>
                    <a:schemeClr val="bg1"/>
                  </a:solidFill>
                </a:rPr>
                <a:t>3=</a:t>
              </a:r>
              <a:r>
                <a:rPr lang="zh-CN" altLang="en-US" sz="800">
                  <a:solidFill>
                    <a:schemeClr val="bg1"/>
                  </a:solidFill>
                </a:rPr>
                <a:t>合作商资源组（非公司员工）</a:t>
              </a:r>
            </a:p>
            <a:p>
              <a:pPr marL="171450" indent="-171450">
                <a:buFontTx/>
                <a:buChar char="-"/>
              </a:pPr>
              <a:r>
                <a:rPr lang="en-US" altLang="zh-CN" sz="800">
                  <a:solidFill>
                    <a:schemeClr val="bg1"/>
                  </a:solidFill>
                </a:rPr>
                <a:t>`qtqx`</a:t>
              </a:r>
              <a:r>
                <a:rPr lang="zh-CN" altLang="en-US" sz="800">
                  <a:solidFill>
                    <a:schemeClr val="bg1"/>
                  </a:solidFill>
                </a:rPr>
                <a:t>（其他）：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其他（无匹配权限类别时默认）</a:t>
              </a:r>
              <a:endParaRPr lang="en-US" altLang="zh-CN" sz="800">
                <a:solidFill>
                  <a:schemeClr val="bg1"/>
                </a:solidFill>
              </a:endParaRPr>
            </a:p>
            <a:p>
              <a:pPr marL="171450" indent="-171450">
                <a:buFontTx/>
                <a:buChar char="-"/>
              </a:pPr>
              <a:r>
                <a:rPr lang="en-US" altLang="zh-CN" sz="800">
                  <a:solidFill>
                    <a:schemeClr val="bg1"/>
                  </a:solidFill>
                </a:rPr>
                <a:t>........................</a:t>
              </a:r>
            </a:p>
          </p:txBody>
        </p:sp>
      </p:grpSp>
      <p:sp>
        <p:nvSpPr>
          <p:cNvPr id="9" name="右箭头 8"/>
          <p:cNvSpPr/>
          <p:nvPr userDrawn="1"/>
        </p:nvSpPr>
        <p:spPr>
          <a:xfrm>
            <a:off x="4674385" y="2802131"/>
            <a:ext cx="407019" cy="295839"/>
          </a:xfrm>
          <a:prstGeom prst="rightArrow">
            <a:avLst/>
          </a:prstGeom>
          <a:solidFill>
            <a:srgbClr val="FFC000"/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与大模型协同 · 组件库开源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34876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17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大模型时代的 UI 基础设施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大模型赋予了机器理解与生成的能力，但缺乏与用户交互的界面载体。A2UI 正是连接大模型与用户的桥梁——让 AI 的输出不再局限于文本，而是直接成为可交互的界面。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606040"/>
            <a:ext cx="45720" cy="73152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25786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规范化输出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9260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大模型按统一 Schema 生成 UI，确保一致性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64992" y="2606040"/>
            <a:ext cx="45720" cy="73152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6060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25786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即时渲染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29260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到界面毫秒级转化，零延迟响应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9632" y="2606040"/>
            <a:ext cx="45720" cy="73152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6060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6560" y="25786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业务适配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0" y="29260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组件可扩展，灵活适配不同业务场景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36576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30352" y="3794760"/>
            <a:ext cx="45720" cy="10058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Text 20"/>
          <p:cNvSpPr/>
          <p:nvPr/>
        </p:nvSpPr>
        <p:spPr>
          <a:xfrm>
            <a:off x="777240" y="3749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组件库开源发布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77240" y="40690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已封装为独立的 npm 组件库并发布，任何项目均可通过 npm install 直接引入，无需重复开发。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开箱即用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7724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即可引入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278892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版本管控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278892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语义化版本，升级可控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80060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跨项目复用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80060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一次开发多系统复用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81228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生态开放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81228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开源可扩展，社区共建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驱动的 UI 渲染机制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7" name="Text 5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珊瑚系统输出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64592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0604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7919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Text 9"/>
          <p:cNvSpPr/>
          <p:nvPr/>
        </p:nvSpPr>
        <p:spPr>
          <a:xfrm>
            <a:off x="274320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10896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A2UIRoot 解析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为树形结构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4592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5488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2803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7" name="Text 13"/>
          <p:cNvSpPr/>
          <p:nvPr/>
        </p:nvSpPr>
        <p:spPr>
          <a:xfrm>
            <a:off x="489204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25780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映射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VNodes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45920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90372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7687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2" name="Text 17"/>
          <p:cNvSpPr/>
          <p:nvPr/>
        </p:nvSpPr>
        <p:spPr>
          <a:xfrm>
            <a:off x="704088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740664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用户交互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事件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246888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A2UI 表单 Schema 定义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0080" y="28346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40080" y="29992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"type": "Card",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40080" y="316382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"props": { "title": "运维工单" },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40080" y="332841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"children": [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40080" y="349300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 "type": "TextField",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40080" y="365760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"props": { "label": "问题描述",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40080" y="38221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"field": "desc" } },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40080" y="39867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 "type": "Button",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40080" y="415137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"props": { "label": "提交",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40080" y="43159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"action": "submit" } }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]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40080" y="464515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846320" y="246888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4919472" y="2606040"/>
            <a:ext cx="45720" cy="21031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0" name="Text 35"/>
          <p:cNvSpPr/>
          <p:nvPr/>
        </p:nvSpPr>
        <p:spPr>
          <a:xfrm>
            <a:off x="5166360" y="25603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UI 对应关系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5166360" y="2971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"type": "Card"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995160" y="29718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7269480" y="29718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卡片容器组件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5166360" y="3319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"type": "TextField"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995160" y="3319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7269480" y="33192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文本输入框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5166360" y="366674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"type": "Button"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995160" y="36667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7269480" y="36667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操作按钮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5166360" y="40142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"props.field"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6995160" y="40142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7269480" y="40142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数据绑定字段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5166360" y="43616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"props.action"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6995160" y="43616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7269480" y="43616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点击事件处理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r>
              <a:rPr lang="zh-CN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altLang="zh-CN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zh-CN" altLang="en-US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基于珊瑚平台提供</a:t>
            </a:r>
            <a:r>
              <a:rPr lang="en-US" altLang="zh-CN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zh-CN" alt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</a:t>
            </a:r>
            <a:endParaRPr lang="en-US" sz="2200" dirty="0"/>
          </a:p>
        </p:txBody>
      </p:sp>
      <p:sp>
        <p:nvSpPr>
          <p:cNvPr id="10" name="Subtitle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大模型读取 SKILL.md + reference.md ，规划并生成符合规范的 A2UI JSON 配置</a:t>
            </a:r>
          </a:p>
        </p:txBody>
      </p:sp>
      <p:pic>
        <p:nvPicPr>
          <p:cNvPr id="5" name="Image 0" descr="D:\work\program\tineco\desk\opsmind\ppt_images\image1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1737360"/>
            <a:ext cx="2560320" cy="1530000"/>
          </a:xfrm>
          <a:prstGeom prst="roundRect">
            <a:avLst>
              <a:gd name="adj" fmla="val 3000"/>
            </a:avLst>
          </a:prstGeom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737360"/>
            <a:ext cx="5486400" cy="2880000"/>
          </a:xfrm>
          <a:prstGeom prst="roundRect">
            <a:avLst>
              <a:gd name="adj" fmla="val 3000"/>
            </a:avLst>
          </a:prstGeom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11" name="Label1"/>
          <p:cNvSpPr/>
          <p:nvPr/>
        </p:nvSpPr>
        <p:spPr>
          <a:xfrm>
            <a:off x="457200" y="3370000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02C39A">
              <a:alpha val="20000"/>
            </a:srgbClr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规范文件</a:t>
            </a:r>
          </a:p>
        </p:txBody>
      </p:sp>
      <p:sp>
        <p:nvSpPr>
          <p:cNvPr id="12" name="Label2"/>
          <p:cNvSpPr/>
          <p:nvPr/>
        </p:nvSpPr>
        <p:spPr>
          <a:xfrm>
            <a:off x="3200400" y="4720000"/>
            <a:ext cx="5486400" cy="274320"/>
          </a:xfrm>
          <a:prstGeom prst="roundRect">
            <a:avLst>
              <a:gd name="adj" fmla="val 16667"/>
            </a:avLst>
          </a:prstGeom>
          <a:solidFill>
            <a:srgbClr val="06B6D4">
              <a:alpha val="20000"/>
            </a:srgbClr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生成的 A2UI JSON 配置</a:t>
            </a:r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199" y="731519"/>
            <a:ext cx="5000000" cy="6810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b="1">
                <a:solidFill>
                  <a:schemeClr val="bg1"/>
                </a:solidFill>
              </a:rPr>
              <a:t>SKILL.md —— </a:t>
            </a:r>
            <a:r>
              <a:rPr lang="zh-CN" altLang="en-US" b="1">
                <a:solidFill>
                  <a:schemeClr val="bg1"/>
                </a:solidFill>
              </a:rPr>
              <a:t>核心规范与使用指南</a:t>
            </a:r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20" name="Card1Bg"/>
          <p:cNvSpPr/>
          <p:nvPr/>
        </p:nvSpPr>
        <p:spPr>
          <a:xfrm>
            <a:off x="457200" y="15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Card1Bar"/>
          <p:cNvSpPr/>
          <p:nvPr/>
        </p:nvSpPr>
        <p:spPr>
          <a:xfrm>
            <a:off x="530352" y="1680000"/>
            <a:ext cx="45720" cy="11000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2" name="Card1Title"/>
          <p:cNvSpPr/>
          <p:nvPr/>
        </p:nvSpPr>
        <p:spPr>
          <a:xfrm>
            <a:off x="640080" y="16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格式与属性映射</a:t>
            </a:r>
          </a:p>
        </p:txBody>
      </p:sp>
      <p:sp>
        <p:nvSpPr>
          <p:cNvPr id="23" name="Card1Content"/>
          <p:cNvSpPr/>
          <p:nvPr/>
        </p:nvSpPr>
        <p:spPr>
          <a:xfrm>
            <a:off x="640080" y="20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 JSON 格式：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Nested Format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（嵌套）与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Flat Format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（扁平，推荐）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属性映射：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props.content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value.path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数据绑定</a:t>
            </a:r>
          </a:p>
        </p:txBody>
      </p:sp>
      <p:sp>
        <p:nvSpPr>
          <p:cNvPr id="30" name="Card2Bg"/>
          <p:cNvSpPr/>
          <p:nvPr/>
        </p:nvSpPr>
        <p:spPr>
          <a:xfrm>
            <a:off x="4636200" y="15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Card2Bar"/>
          <p:cNvSpPr/>
          <p:nvPr/>
        </p:nvSpPr>
        <p:spPr>
          <a:xfrm>
            <a:off x="4709352" y="1680000"/>
            <a:ext cx="45720" cy="110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2" name="Card2Title"/>
          <p:cNvSpPr/>
          <p:nvPr/>
        </p:nvSpPr>
        <p:spPr>
          <a:xfrm>
            <a:off x="4819080" y="16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组件体系与数据绑定</a:t>
            </a:r>
          </a:p>
        </p:txBody>
      </p:sp>
      <p:sp>
        <p:nvSpPr>
          <p:cNvPr id="33" name="Card2Content"/>
          <p:cNvSpPr/>
          <p:nvPr/>
        </p:nvSpPr>
        <p:spPr>
          <a:xfrm>
            <a:off x="4819080" y="20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四大组件类：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Layout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（Card/Row/Column/List）</a:t>
            </a:r>
          </a:p>
          <a:p>
            <a:pPr marL="0" indent="0">
              <a:buNone/>
            </a:pP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（TextField/Select/DatePicker）</a:t>
            </a:r>
          </a:p>
          <a:p>
            <a:pPr marL="0" indent="0">
              <a:buNone/>
            </a:pP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（Text/Icon/InfoField）、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（Button）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value.path + value.default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双向绑定</a:t>
            </a:r>
          </a:p>
        </p:txBody>
      </p:sp>
      <p:sp>
        <p:nvSpPr>
          <p:cNvPr id="40" name="Card3Bg"/>
          <p:cNvSpPr/>
          <p:nvPr/>
        </p:nvSpPr>
        <p:spPr>
          <a:xfrm>
            <a:off x="457200" y="31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Card3Bar"/>
          <p:cNvSpPr/>
          <p:nvPr/>
        </p:nvSpPr>
        <p:spPr>
          <a:xfrm>
            <a:off x="530352" y="3280000"/>
            <a:ext cx="45720" cy="110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2" name="Card3Title"/>
          <p:cNvSpPr/>
          <p:nvPr/>
        </p:nvSpPr>
        <p:spPr>
          <a:xfrm>
            <a:off x="640080" y="32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布局模式与属性配置</a:t>
            </a:r>
          </a:p>
        </p:txBody>
      </p:sp>
      <p:sp>
        <p:nvSpPr>
          <p:cNvPr id="43" name="Card3Content"/>
          <p:cNvSpPr/>
          <p:nvPr/>
        </p:nvSpPr>
        <p:spPr>
          <a:xfrm>
            <a:off x="640080" y="36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布局模式：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Card+Column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表单、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Row+Column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网格、极简扁平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常用属性：卡片宽度预设、按钮样式类型、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文本变体、对齐方式等</a:t>
            </a:r>
          </a:p>
        </p:txBody>
      </p:sp>
      <p:sp>
        <p:nvSpPr>
          <p:cNvPr id="50" name="Card4Bg"/>
          <p:cNvSpPr/>
          <p:nvPr/>
        </p:nvSpPr>
        <p:spPr>
          <a:xfrm>
            <a:off x="4636200" y="31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Card4Bar"/>
          <p:cNvSpPr/>
          <p:nvPr/>
        </p:nvSpPr>
        <p:spPr>
          <a:xfrm>
            <a:off x="4709352" y="3280000"/>
            <a:ext cx="45720" cy="11000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52" name="Card4Title"/>
          <p:cNvSpPr/>
          <p:nvPr/>
        </p:nvSpPr>
        <p:spPr>
          <a:xfrm>
            <a:off x="4819080" y="32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交互配置与最佳实践</a:t>
            </a:r>
          </a:p>
        </p:txBody>
      </p:sp>
      <p:sp>
        <p:nvSpPr>
          <p:cNvPr id="53" name="Card4Content"/>
          <p:cNvSpPr/>
          <p:nvPr/>
        </p:nvSpPr>
        <p:spPr>
          <a:xfrm>
            <a:off x="4819080" y="36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按钮 Action：通过 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定义点击事件，外部接收通知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条最佳实践：优先扁平格式、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表单用 Card 包裹、InfoField 绑定数据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value.path 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199" y="731519"/>
            <a:ext cx="5000000" cy="6810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b="1">
                <a:solidFill>
                  <a:schemeClr val="bg1"/>
                </a:solidFill>
              </a:rPr>
              <a:t>reference.md —— </a:t>
            </a:r>
            <a:r>
              <a:rPr lang="zh-CN" altLang="en-US" b="1">
                <a:solidFill>
                  <a:schemeClr val="bg1"/>
                </a:solidFill>
              </a:rPr>
              <a:t>组件 API 参考手册</a:t>
            </a:r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20" name="LeftBg"/>
          <p:cNvSpPr/>
          <p:nvPr/>
        </p:nvSpPr>
        <p:spPr>
          <a:xfrm>
            <a:off x="457200" y="1550000"/>
            <a:ext cx="4800000" cy="305000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LeftTitle"/>
          <p:cNvSpPr/>
          <p:nvPr/>
        </p:nvSpPr>
        <p:spPr>
          <a:xfrm>
            <a:off x="640080" y="1630000"/>
            <a:ext cx="44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  <a:r>
              <a:rPr lang="zh-CN" alt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个组件</a:t>
            </a:r>
            <a:r>
              <a:rPr lang="zh-CN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4 </a:t>
            </a:r>
            <a:r>
              <a:rPr lang="zh-CN" alt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大分类</a:t>
            </a:r>
          </a:p>
        </p:txBody>
      </p:sp>
      <p:sp>
        <p:nvSpPr>
          <p:cNvPr id="22" name="LayoutTag"/>
          <p:cNvSpPr/>
          <p:nvPr/>
        </p:nvSpPr>
        <p:spPr>
          <a:xfrm>
            <a:off x="640080" y="210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02C39A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</a:p>
        </p:txBody>
      </p:sp>
      <p:sp>
        <p:nvSpPr>
          <p:cNvPr id="23" name="LayoutList"/>
          <p:cNvSpPr/>
          <p:nvPr/>
        </p:nvSpPr>
        <p:spPr>
          <a:xfrm>
            <a:off x="1645920" y="2100000"/>
            <a:ext cx="340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A2Card  A2Row  A2Column  A2List</a:t>
            </a:r>
          </a:p>
        </p:txBody>
      </p:sp>
      <p:sp>
        <p:nvSpPr>
          <p:cNvPr id="24" name="FormTag"/>
          <p:cNvSpPr/>
          <p:nvPr/>
        </p:nvSpPr>
        <p:spPr>
          <a:xfrm>
            <a:off x="640080" y="252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</a:p>
        </p:txBody>
      </p:sp>
      <p:sp>
        <p:nvSpPr>
          <p:cNvPr id="25" name="FormList"/>
          <p:cNvSpPr/>
          <p:nvPr/>
        </p:nvSpPr>
        <p:spPr>
          <a:xfrm>
            <a:off x="1645920" y="2420000"/>
            <a:ext cx="340000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A2TextField  A2Input  A2Select  A2SelectField</a:t>
            </a:r>
          </a:p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A2DatePicker  A2DateTimeInput  A2ChoicePicker</a:t>
            </a:r>
          </a:p>
        </p:txBody>
      </p:sp>
      <p:sp>
        <p:nvSpPr>
          <p:cNvPr id="26" name="DisplayTag"/>
          <p:cNvSpPr/>
          <p:nvPr/>
        </p:nvSpPr>
        <p:spPr>
          <a:xfrm>
            <a:off x="640080" y="310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</a:p>
        </p:txBody>
      </p:sp>
      <p:sp>
        <p:nvSpPr>
          <p:cNvPr id="27" name="DisplayList"/>
          <p:cNvSpPr/>
          <p:nvPr/>
        </p:nvSpPr>
        <p:spPr>
          <a:xfrm>
            <a:off x="1645920" y="3100000"/>
            <a:ext cx="340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A2Text  A2Icon  A2InfoField</a:t>
            </a:r>
          </a:p>
        </p:txBody>
      </p:sp>
      <p:sp>
        <p:nvSpPr>
          <p:cNvPr id="28" name="ActionTag"/>
          <p:cNvSpPr/>
          <p:nvPr/>
        </p:nvSpPr>
        <p:spPr>
          <a:xfrm>
            <a:off x="640080" y="352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8B5CF6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</a:p>
        </p:txBody>
      </p:sp>
      <p:sp>
        <p:nvSpPr>
          <p:cNvPr id="29" name="ActionList"/>
          <p:cNvSpPr/>
          <p:nvPr/>
        </p:nvSpPr>
        <p:spPr>
          <a:xfrm>
            <a:off x="1645920" y="3520000"/>
            <a:ext cx="340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A2Button</a:t>
            </a:r>
          </a:p>
        </p:txBody>
      </p:sp>
      <p:sp>
        <p:nvSpPr>
          <p:cNvPr id="30" name="RightBg1"/>
          <p:cNvSpPr/>
          <p:nvPr/>
        </p:nvSpPr>
        <p:spPr>
          <a:xfrm>
            <a:off x="5486400" y="1550000"/>
            <a:ext cx="3200000" cy="93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RightBar1"/>
          <p:cNvSpPr/>
          <p:nvPr/>
        </p:nvSpPr>
        <p:spPr>
          <a:xfrm>
            <a:off x="5559552" y="1680000"/>
            <a:ext cx="45720" cy="6400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2" name="RightTitle1"/>
          <p:cNvSpPr/>
          <p:nvPr/>
        </p:nvSpPr>
        <p:spPr>
          <a:xfrm>
            <a:off x="5673080" y="1630000"/>
            <a:ext cx="285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</a:t>
            </a:r>
            <a:r>
              <a:rPr lang="zh-CN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表格</a:t>
            </a:r>
          </a:p>
        </p:txBody>
      </p:sp>
      <p:sp>
        <p:nvSpPr>
          <p:cNvPr id="33" name="RightContent1"/>
          <p:cNvSpPr/>
          <p:nvPr/>
        </p:nvSpPr>
        <p:spPr>
          <a:xfrm>
            <a:off x="5673080" y="2000000"/>
            <a:ext cx="2850000" cy="40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属性名、类型、默认值、描述</a:t>
            </a:r>
          </a:p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逐个组件详细列出</a:t>
            </a:r>
          </a:p>
        </p:txBody>
      </p:sp>
      <p:sp>
        <p:nvSpPr>
          <p:cNvPr id="40" name="RightBg2"/>
          <p:cNvSpPr/>
          <p:nvPr/>
        </p:nvSpPr>
        <p:spPr>
          <a:xfrm>
            <a:off x="5486400" y="2620000"/>
            <a:ext cx="3200000" cy="93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RightBar2"/>
          <p:cNvSpPr/>
          <p:nvPr/>
        </p:nvSpPr>
        <p:spPr>
          <a:xfrm>
            <a:off x="5559552" y="2750000"/>
            <a:ext cx="45720" cy="6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2" name="RightTitle2"/>
          <p:cNvSpPr/>
          <p:nvPr/>
        </p:nvSpPr>
        <p:spPr>
          <a:xfrm>
            <a:off x="5673080" y="2700000"/>
            <a:ext cx="285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</a:t>
            </a:r>
            <a:r>
              <a:rPr lang="zh-CN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</a:t>
            </a:r>
          </a:p>
        </p:txBody>
      </p:sp>
      <p:sp>
        <p:nvSpPr>
          <p:cNvPr id="43" name="RightContent2"/>
          <p:cNvSpPr/>
          <p:nvPr/>
        </p:nvSpPr>
        <p:spPr>
          <a:xfrm>
            <a:off x="5673080" y="3070000"/>
            <a:ext cx="2850000" cy="40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每个组件配套实际用法</a:t>
            </a:r>
          </a:p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代码示例</a:t>
            </a:r>
          </a:p>
        </p:txBody>
      </p:sp>
      <p:sp>
        <p:nvSpPr>
          <p:cNvPr id="50" name="RightBg3"/>
          <p:cNvSpPr/>
          <p:nvPr/>
        </p:nvSpPr>
        <p:spPr>
          <a:xfrm>
            <a:off x="5486400" y="3690000"/>
            <a:ext cx="3200000" cy="93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RightBar3"/>
          <p:cNvSpPr/>
          <p:nvPr/>
        </p:nvSpPr>
        <p:spPr>
          <a:xfrm>
            <a:off x="5559552" y="3820000"/>
            <a:ext cx="45720" cy="64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2" name="RightTitle3"/>
          <p:cNvSpPr/>
          <p:nvPr/>
        </p:nvSpPr>
        <p:spPr>
          <a:xfrm>
            <a:off x="5673080" y="3770000"/>
            <a:ext cx="285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特殊细节</a:t>
            </a:r>
          </a:p>
        </p:txBody>
      </p:sp>
      <p:sp>
        <p:nvSpPr>
          <p:cNvPr id="53" name="RightContent3"/>
          <p:cNvSpPr/>
          <p:nvPr/>
        </p:nvSpPr>
        <p:spPr>
          <a:xfrm>
            <a:off x="5673080" y="4140000"/>
            <a:ext cx="2850000" cy="40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ChoicePicker </a:t>
            </a: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单选模式</a:t>
            </a:r>
          </a:p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InfoField </a:t>
            </a: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种变体样式</a:t>
            </a:r>
          </a:p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</a:t>
            </a: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自动图标规则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组件概览与核心能力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统一规范驱动，覆盖表单、展示、交互等全场景组件，赋能大模型高效生成前端 UI</a:t>
            </a:r>
            <a:endParaRPr lang="en-US" sz="1300" dirty="0"/>
          </a:p>
        </p:txBody>
      </p:sp>
      <p:pic>
        <p:nvPicPr>
          <p:cNvPr id="6" name="Image 0" descr="D:\work\program\tineco\desk\opsmind\ppt_images\image1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2064" y="1645920"/>
            <a:ext cx="5522976" cy="338328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27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Center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1904</Words>
  <Application>Microsoft Office PowerPoint</Application>
  <PresentationFormat>全屏显示(16:9)</PresentationFormat>
  <Paragraphs>311</Paragraphs>
  <Slides>22</Slides>
  <Notes>22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等线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海豚技术分享 - A2UI 驱动的 AI 原生桌面应用开发实践</dc:title>
  <dc:subject>PptxGenJS Presentation</dc:subject>
  <dc:creator>AIT Center</dc:creator>
  <cp:lastModifiedBy>hui.chenn(陈辉)</cp:lastModifiedBy>
  <cp:revision>3</cp:revision>
  <dcterms:created xsi:type="dcterms:W3CDTF">2026-06-08T02:57:35Z</dcterms:created>
  <dcterms:modified xsi:type="dcterms:W3CDTF">2026-06-08T04:18:13Z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2B450D45A9B87F172C23156A1D2CCA64_42</vt:lpwstr>
  </property>
  <property fmtid="{D5CDD505-2E9C-101B-9397-08002B2CF9AE}" pid="3" name="KSOProductBuildVer">
    <vt:lpwstr>2052-0.0.0.0</vt:lpwstr>
  </property>
</Properties>
</file>